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a5dcdb3f724f20" /><Relationship Type="http://schemas.openxmlformats.org/officeDocument/2006/relationships/extended-properties" Target="/docProps/app.xml" Id="Rfaa5cefbbe154e59" /><Relationship Type="http://schemas.openxmlformats.org/officeDocument/2006/relationships/officeDocument" Target="/ppt/presentation.xml" Id="R044d575f9a424512" /></Relationships>
</file>

<file path=ppt/presentation.xml><?xml version="1.0" encoding="utf-8"?>
<p:presentation xmlns:p="http://schemas.openxmlformats.org/presentationml/2006/main">
  <p:sldMasterIdLst>
    <p:sldMasterId xmlns:r="http://schemas.openxmlformats.org/officeDocument/2006/relationships" id="2147483648" r:id="R8507edab9a434706"/>
    <p:sldMasterId xmlns:r="http://schemas.openxmlformats.org/officeDocument/2006/relationships" id="2147483658" r:id="R1959f08eff5b4f03"/>
  </p:sldMasterIdLst>
  <p:notesMasterIdLst>
    <p:notesMasterId xmlns:r="http://schemas.openxmlformats.org/officeDocument/2006/relationships" r:id="R4be4c5f0e1ba4955"/>
  </p:notesMasterIdLst>
  <p:sldIdLst>
    <p:sldId xmlns:r="http://schemas.openxmlformats.org/officeDocument/2006/relationships" id="256" r:id="Rd829fceb0dd24854"/>
    <p:sldId xmlns:r="http://schemas.openxmlformats.org/officeDocument/2006/relationships" id="257" r:id="Rf397596ffc024ee1"/>
    <p:sldId xmlns:r="http://schemas.openxmlformats.org/officeDocument/2006/relationships" id="258" r:id="R6f93a39bb40a4f2c"/>
    <p:sldId xmlns:r="http://schemas.openxmlformats.org/officeDocument/2006/relationships" id="259" r:id="R95fa3097f63c467d"/>
    <p:sldId xmlns:r="http://schemas.openxmlformats.org/officeDocument/2006/relationships" id="260" r:id="R323a5fe3a25544c6"/>
    <p:sldId xmlns:r="http://schemas.openxmlformats.org/officeDocument/2006/relationships" id="261" r:id="Re245bcbb6ba04fc3"/>
    <p:sldId xmlns:r="http://schemas.openxmlformats.org/officeDocument/2006/relationships" id="262" r:id="R40aa518229614219"/>
    <p:sldId xmlns:r="http://schemas.openxmlformats.org/officeDocument/2006/relationships" id="263" r:id="Rc39fad354a30491a"/>
    <p:sldId xmlns:r="http://schemas.openxmlformats.org/officeDocument/2006/relationships" id="264" r:id="R7eaf8e0745bb4af1"/>
    <p:sldId xmlns:r="http://schemas.openxmlformats.org/officeDocument/2006/relationships" id="265" r:id="Rb4fa7e0126cd4c16"/>
    <p:sldId xmlns:r="http://schemas.openxmlformats.org/officeDocument/2006/relationships" id="266" r:id="Re70f7fb745a64249"/>
    <p:sldId xmlns:r="http://schemas.openxmlformats.org/officeDocument/2006/relationships" id="267" r:id="R9462d39115e9465e"/>
    <p:sldId xmlns:r="http://schemas.openxmlformats.org/officeDocument/2006/relationships" id="268" r:id="Rd98fa2d0be784fd1"/>
    <p:sldId xmlns:r="http://schemas.openxmlformats.org/officeDocument/2006/relationships" id="269" r:id="Rf5237a5256ce4f01"/>
    <p:sldId xmlns:r="http://schemas.openxmlformats.org/officeDocument/2006/relationships" id="270" r:id="R6ffe709c0ad5438b"/>
    <p:sldId xmlns:r="http://schemas.openxmlformats.org/officeDocument/2006/relationships" id="271" r:id="R8349f09a4e404b7b"/>
    <p:sldId xmlns:r="http://schemas.openxmlformats.org/officeDocument/2006/relationships" id="272" r:id="R944204c235cc45dc"/>
    <p:sldId xmlns:r="http://schemas.openxmlformats.org/officeDocument/2006/relationships" id="273" r:id="Ra7f82d81183d4056"/>
    <p:sldId xmlns:r="http://schemas.openxmlformats.org/officeDocument/2006/relationships" id="274" r:id="R6caca6d8ddf84353"/>
    <p:sldId xmlns:r="http://schemas.openxmlformats.org/officeDocument/2006/relationships" id="275" r:id="Rd1557c2f0c164445"/>
    <p:sldId xmlns:r="http://schemas.openxmlformats.org/officeDocument/2006/relationships" id="276" r:id="R9b34c0e2f11f4b14"/>
    <p:sldId xmlns:r="http://schemas.openxmlformats.org/officeDocument/2006/relationships" id="277" r:id="Re45b72e0d27b436f"/>
    <p:sldId xmlns:r="http://schemas.openxmlformats.org/officeDocument/2006/relationships" id="278" r:id="R76cf5379339f4d8e"/>
    <p:sldId xmlns:r="http://schemas.openxmlformats.org/officeDocument/2006/relationships" id="279" r:id="R851d43ac3b6d447c"/>
    <p:sldId xmlns:r="http://schemas.openxmlformats.org/officeDocument/2006/relationships" id="280" r:id="R02de54a0a77643e3"/>
    <p:sldId xmlns:r="http://schemas.openxmlformats.org/officeDocument/2006/relationships" id="281" r:id="Re3ec34273dfe4695"/>
    <p:sldId xmlns:r="http://schemas.openxmlformats.org/officeDocument/2006/relationships" id="282" r:id="R5d5117b7bda64bd4"/>
    <p:sldId xmlns:r="http://schemas.openxmlformats.org/officeDocument/2006/relationships" id="283" r:id="R5ca27e4d32c5464c"/>
    <p:sldId xmlns:r="http://schemas.openxmlformats.org/officeDocument/2006/relationships" id="284" r:id="Ra6af4acdf88c4585"/>
    <p:sldId xmlns:r="http://schemas.openxmlformats.org/officeDocument/2006/relationships" id="285" r:id="R2e5abdb7c26f459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630eefb2c749d8" /><Relationship Type="http://schemas.openxmlformats.org/officeDocument/2006/relationships/slideMaster" Target="/ppt/slideMasters/slideMaster1.xml" Id="R8507edab9a434706" /><Relationship Type="http://schemas.openxmlformats.org/officeDocument/2006/relationships/slideMaster" Target="/ppt/slideMasters/slideMaster2.xml" Id="R1959f08eff5b4f03" /><Relationship Type="http://schemas.openxmlformats.org/officeDocument/2006/relationships/notesMaster" Target="/ppt/notesMasters/notesMaster1.xml" Id="R4be4c5f0e1ba4955" /><Relationship Type="http://schemas.openxmlformats.org/officeDocument/2006/relationships/presProps" Target="/ppt/presProps.xml" Id="Rbdee58514ac84164" /><Relationship Type="http://schemas.openxmlformats.org/officeDocument/2006/relationships/tableStyles" Target="/ppt/tableStyles.xml" Id="Rbcad1c42bf3e485b" /><Relationship Type="http://schemas.openxmlformats.org/officeDocument/2006/relationships/slide" Target="/ppt/slides/slide1.xml" Id="Rd829fceb0dd24854" /><Relationship Type="http://schemas.openxmlformats.org/officeDocument/2006/relationships/slide" Target="/ppt/slides/slide2.xml" Id="Rf397596ffc024ee1" /><Relationship Type="http://schemas.openxmlformats.org/officeDocument/2006/relationships/slide" Target="/ppt/slides/slide3.xml" Id="R6f93a39bb40a4f2c" /><Relationship Type="http://schemas.openxmlformats.org/officeDocument/2006/relationships/slide" Target="/ppt/slides/slide4.xml" Id="R95fa3097f63c467d" /><Relationship Type="http://schemas.openxmlformats.org/officeDocument/2006/relationships/slide" Target="/ppt/slides/slide5.xml" Id="R323a5fe3a25544c6" /><Relationship Type="http://schemas.openxmlformats.org/officeDocument/2006/relationships/slide" Target="/ppt/slides/slide6.xml" Id="Re245bcbb6ba04fc3" /><Relationship Type="http://schemas.openxmlformats.org/officeDocument/2006/relationships/slide" Target="/ppt/slides/slide7.xml" Id="R40aa518229614219" /><Relationship Type="http://schemas.openxmlformats.org/officeDocument/2006/relationships/slide" Target="/ppt/slides/slide8.xml" Id="Rc39fad354a30491a" /><Relationship Type="http://schemas.openxmlformats.org/officeDocument/2006/relationships/slide" Target="/ppt/slides/slide9.xml" Id="R7eaf8e0745bb4af1" /><Relationship Type="http://schemas.openxmlformats.org/officeDocument/2006/relationships/slide" Target="/ppt/slides/slide10.xml" Id="Rb4fa7e0126cd4c16" /><Relationship Type="http://schemas.openxmlformats.org/officeDocument/2006/relationships/slide" Target="/ppt/slides/slide11.xml" Id="Re70f7fb745a64249" /><Relationship Type="http://schemas.openxmlformats.org/officeDocument/2006/relationships/slide" Target="/ppt/slides/slide12.xml" Id="R9462d39115e9465e" /><Relationship Type="http://schemas.openxmlformats.org/officeDocument/2006/relationships/slide" Target="/ppt/slides/slide13.xml" Id="Rd98fa2d0be784fd1" /><Relationship Type="http://schemas.openxmlformats.org/officeDocument/2006/relationships/slide" Target="/ppt/slides/slide14.xml" Id="Rf5237a5256ce4f01" /><Relationship Type="http://schemas.openxmlformats.org/officeDocument/2006/relationships/slide" Target="/ppt/slides/slide15.xml" Id="R6ffe709c0ad5438b" /><Relationship Type="http://schemas.openxmlformats.org/officeDocument/2006/relationships/slide" Target="/ppt/slides/slide16.xml" Id="R8349f09a4e404b7b" /><Relationship Type="http://schemas.openxmlformats.org/officeDocument/2006/relationships/slide" Target="/ppt/slides/slide17.xml" Id="R944204c235cc45dc" /><Relationship Type="http://schemas.openxmlformats.org/officeDocument/2006/relationships/slide" Target="/ppt/slides/slide18.xml" Id="Ra7f82d81183d4056" /><Relationship Type="http://schemas.openxmlformats.org/officeDocument/2006/relationships/slide" Target="/ppt/slides/slide19.xml" Id="R6caca6d8ddf84353" /><Relationship Type="http://schemas.openxmlformats.org/officeDocument/2006/relationships/slide" Target="/ppt/slides/slide20.xml" Id="Rd1557c2f0c164445" /><Relationship Type="http://schemas.openxmlformats.org/officeDocument/2006/relationships/slide" Target="/ppt/slides/slide21.xml" Id="R9b34c0e2f11f4b14" /><Relationship Type="http://schemas.openxmlformats.org/officeDocument/2006/relationships/slide" Target="/ppt/slides/slide22.xml" Id="Re45b72e0d27b436f" /><Relationship Type="http://schemas.openxmlformats.org/officeDocument/2006/relationships/slide" Target="/ppt/slides/slide23.xml" Id="R76cf5379339f4d8e" /><Relationship Type="http://schemas.openxmlformats.org/officeDocument/2006/relationships/slide" Target="/ppt/slides/slide24.xml" Id="R851d43ac3b6d447c" /><Relationship Type="http://schemas.openxmlformats.org/officeDocument/2006/relationships/slide" Target="/ppt/slides/slide25.xml" Id="R02de54a0a77643e3" /><Relationship Type="http://schemas.openxmlformats.org/officeDocument/2006/relationships/slide" Target="/ppt/slides/slide26.xml" Id="Re3ec34273dfe4695" /><Relationship Type="http://schemas.openxmlformats.org/officeDocument/2006/relationships/slide" Target="/ppt/slides/slide27.xml" Id="R5d5117b7bda64bd4" /><Relationship Type="http://schemas.openxmlformats.org/officeDocument/2006/relationships/slide" Target="/ppt/slides/slide28.xml" Id="R5ca27e4d32c5464c" /><Relationship Type="http://schemas.openxmlformats.org/officeDocument/2006/relationships/slide" Target="/ppt/slides/slide29.xml" Id="Ra6af4acdf88c4585" /><Relationship Type="http://schemas.openxmlformats.org/officeDocument/2006/relationships/slide" Target="/ppt/slides/slide30.xml" Id="R2e5abdb7c26f45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239935cd5e8046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c3c2137b5f464c" /><Relationship Type="http://schemas.openxmlformats.org/officeDocument/2006/relationships/notesMaster" Target="/ppt/notesMasters/notesMaster1.xml" Id="R49b328b0c86744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22119213fe467a" /><Relationship Type="http://schemas.openxmlformats.org/officeDocument/2006/relationships/notesMaster" Target="/ppt/notesMasters/notesMaster1.xml" Id="R5f628a2e818945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35db36ea1343f7" /><Relationship Type="http://schemas.openxmlformats.org/officeDocument/2006/relationships/notesMaster" Target="/ppt/notesMasters/notesMaster1.xml" Id="R209d0cd53e2544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309adb7f374272" /><Relationship Type="http://schemas.openxmlformats.org/officeDocument/2006/relationships/notesMaster" Target="/ppt/notesMasters/notesMaster1.xml" Id="R23905f83702345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28215b417c4cd0" /><Relationship Type="http://schemas.openxmlformats.org/officeDocument/2006/relationships/notesMaster" Target="/ppt/notesMasters/notesMaster1.xml" Id="R1d450827927443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981674d3a4402c" /><Relationship Type="http://schemas.openxmlformats.org/officeDocument/2006/relationships/notesMaster" Target="/ppt/notesMasters/notesMaster1.xml" Id="Rc132d3bff2494e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10d74285154d7f" /><Relationship Type="http://schemas.openxmlformats.org/officeDocument/2006/relationships/notesMaster" Target="/ppt/notesMasters/notesMaster1.xml" Id="R39cbe07c12904b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226d2ac4c64a65" /><Relationship Type="http://schemas.openxmlformats.org/officeDocument/2006/relationships/notesMaster" Target="/ppt/notesMasters/notesMaster1.xml" Id="R37b320b5245d48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70b4db7ac5402c" /><Relationship Type="http://schemas.openxmlformats.org/officeDocument/2006/relationships/notesMaster" Target="/ppt/notesMasters/notesMaster1.xml" Id="R96dce933b98743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26606340324965" /><Relationship Type="http://schemas.openxmlformats.org/officeDocument/2006/relationships/notesMaster" Target="/ppt/notesMasters/notesMaster1.xml" Id="R135b876203294e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7f912f8fdc440d" /><Relationship Type="http://schemas.openxmlformats.org/officeDocument/2006/relationships/notesMaster" Target="/ppt/notesMasters/notesMaster1.xml" Id="Rf85ce3bba97849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2b5fc96f4e4d07" /><Relationship Type="http://schemas.openxmlformats.org/officeDocument/2006/relationships/notesMaster" Target="/ppt/notesMasters/notesMaster1.xml" Id="Rc003730dd89b40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d5323e4624448a1" /><Relationship Type="http://schemas.openxmlformats.org/officeDocument/2006/relationships/notesMaster" Target="/ppt/notesMasters/notesMaster1.xml" Id="Ree92622666a446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d2c02de718447c" /><Relationship Type="http://schemas.openxmlformats.org/officeDocument/2006/relationships/notesMaster" Target="/ppt/notesMasters/notesMaster1.xml" Id="Rd212711a36574e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81045a2b79440c" /><Relationship Type="http://schemas.openxmlformats.org/officeDocument/2006/relationships/notesMaster" Target="/ppt/notesMasters/notesMaster1.xml" Id="R9147c3bd96c54a6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2c936bee204e38" /><Relationship Type="http://schemas.openxmlformats.org/officeDocument/2006/relationships/notesMaster" Target="/ppt/notesMasters/notesMaster1.xml" Id="Ra9141b64c60f43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32f547301c4182" /><Relationship Type="http://schemas.openxmlformats.org/officeDocument/2006/relationships/notesMaster" Target="/ppt/notesMasters/notesMaster1.xml" Id="Rcc3d13bfa7f44b9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8ecdc046b7040ac" /><Relationship Type="http://schemas.openxmlformats.org/officeDocument/2006/relationships/notesMaster" Target="/ppt/notesMasters/notesMaster1.xml" Id="Rc41567f02b0e40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1fdd59bff645da" /><Relationship Type="http://schemas.openxmlformats.org/officeDocument/2006/relationships/notesMaster" Target="/ppt/notesMasters/notesMaster1.xml" Id="Rbf61e43ab6914df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647d3f74f949a5" /><Relationship Type="http://schemas.openxmlformats.org/officeDocument/2006/relationships/notesMaster" Target="/ppt/notesMasters/notesMaster1.xml" Id="R906c04a595964eb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b183b5a55f146eb" /><Relationship Type="http://schemas.openxmlformats.org/officeDocument/2006/relationships/notesMaster" Target="/ppt/notesMasters/notesMaster1.xml" Id="Rdb611802c93d429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5cd51ab0c994a92" /><Relationship Type="http://schemas.openxmlformats.org/officeDocument/2006/relationships/notesMaster" Target="/ppt/notesMasters/notesMaster1.xml" Id="Rf49122292ca04b8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15f3683b5048b6" /><Relationship Type="http://schemas.openxmlformats.org/officeDocument/2006/relationships/notesMaster" Target="/ppt/notesMasters/notesMaster1.xml" Id="R97908ee94f434d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59d55bfc4264bb4" /><Relationship Type="http://schemas.openxmlformats.org/officeDocument/2006/relationships/notesMaster" Target="/ppt/notesMasters/notesMaster1.xml" Id="R53b61812e4d6405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29d463204194cdc" /><Relationship Type="http://schemas.openxmlformats.org/officeDocument/2006/relationships/notesMaster" Target="/ppt/notesMasters/notesMaster1.xml" Id="Rc45da87433fc488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e9caad0a94e4bc1" /><Relationship Type="http://schemas.openxmlformats.org/officeDocument/2006/relationships/notesMaster" Target="/ppt/notesMasters/notesMaster1.xml" Id="R1ea9ecee73604db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1ecdb69f92c4d0d" /><Relationship Type="http://schemas.openxmlformats.org/officeDocument/2006/relationships/notesMaster" Target="/ppt/notesMasters/notesMaster1.xml" Id="R02fe2423ee5445f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10ab3c08df24aee" /><Relationship Type="http://schemas.openxmlformats.org/officeDocument/2006/relationships/notesMaster" Target="/ppt/notesMasters/notesMaster1.xml" Id="R303baf5a70954e5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a426b0341604b54" /><Relationship Type="http://schemas.openxmlformats.org/officeDocument/2006/relationships/notesMaster" Target="/ppt/notesMasters/notesMaster1.xml" Id="R1c509ba71d0e4b7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491dda6b52a44c4" /><Relationship Type="http://schemas.openxmlformats.org/officeDocument/2006/relationships/notesMaster" Target="/ppt/notesMasters/notesMaster1.xml" Id="R1eead19a419541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xin kính chào quý thầy cô. Đề tài của em là Plant Disease Detector, một ứng dụng iOS dùng AI để hỗ trợ phát hiện bệnh cây thông qua ảnh lá. Trong phần trình bày, em sẽ đi từ lý do chọn đề tài, thiết kế hệ thống, mô hình AI, đánh giá và kết quả triển khai.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là lộ trình trình bày. Em chia nội dung thành năm phần lớn: tổng quan, phân tích thiết kế, dữ liệu và mô hình AI, huấn luyện đánh giá, cuối cùng là triển khai thực tế. Cách chia này giúp người nghe thấy rõ từ bài toán thực tiễn đến sản phẩm app hoàn chỉnh.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bắt đầu với phần tổng quan đề tài. Phần này trả lời câu hỏi vì sao cần hệ thống này, mục tiêu chính là gì và đề tài có ý nghĩa như thế nào trong nông nghiệp thông minh.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thực tế, bệnh cây nếu phát hiện muộn có thể làm giảm năng suất và chất lượng nông sản. Việc nhận diện bằng kinh nghiệm cá nhân dễ bị nhầm khi triệu chứng giống nhau. Điện thoại thông minh tạo điều kiện để người dùng chụp ảnh lá và nhận hỗ trợ nhanh hơn.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trung tâm của đề tài là xây dựng một ứng dụng iOS có thể nhận ảnh lá, gửi lên backend và nhận kết quả dự đoán từ mô hình AI. Ngoài kết quả bệnh, hệ thống còn cung cấp độ tin cậy và gợi ý chăm sóc để người dùng có thông tin tham khảo.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Ý nghĩa thực tiễn là hỗ trợ người trồng cây phát hiện sớm vấn đề và quản lý lịch sử chăm sóc. Ý nghĩa khoa học nằm ở việc kết hợp xử lý ảnh, học sâu, app iOS, backend và cơ sở dữ liệu thành một hệ thống hoàn chỉnh.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công nghệ được chọn theo từng vai trò. SwiftUI dùng để xây dựng giao diện app iOS; FastAPI xử lý backend; Supabase đảm nhiệm xác thực, cơ sở dữ liệu và lưu trữ ảnh. Ngoài ra hệ thống tích hợp Gemini để tư vấn, OpenWeather cho thời tiết và MapKit cho bản đồ.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Sang phần hai, em trình bày phân tích và thiết kế. Đây là phần xác định người dùng của hệ thống, các chức năng cần có, yêu cầu phi chức năng và kiến trúc tổng thể trước khi triển khai.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Hệ thống có nhiều tác nhân. Khách có thể tiếp cận chức năng cơ bản; người dùng đăng nhập để chẩn đoán, lưu lịch sử và quản lý cây. Chuyên gia có vai trò thẩm định phản hồi, còn backend, AI, bản đồ và thời tiết là các thành phần dịch vụ hỗ trợ.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Yêu cầu chức năng được chia thành nhóm tài khoản, nhóm chẩn đoán, nhóm chăm sóc và nhóm phản hồi. Điểm quan trọng là app không chỉ trả kết quả bệnh, mà còn lưu lịch sử, hiển thị khuyến cáo, hỗ trợ bản đồ vùng dịch và cho phép báo cáo kết quả chưa đúng.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Yêu cầu phi chức năng tập trung vào trải nghiệm, ổn định và bảo mật. Ứng dụng cần dễ dùng trên iPhone, backend phải kiểm tra ảnh đầu vào để tránh lỗi, dữ liệu cá nhân và ảnh cây phải được quản lý an toàn thông qua Supabase.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Kiến trúc hệ thống theo mô hình Client-Server. App iOS là client gửi ảnh và nhận kết quả. FastAPI là lớp trung gian để kiểm tra ảnh, gọi mô hình AI, lưu dữ liệu vào Supabase và kết nối với các API hỗ trợ như Gemini và OpenWeather.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chẩn đoán bắt đầu khi người dùng chụp hoặc chọn ảnh lá. Ảnh được gửi lên backend, backend kiểm tra định dạng và tiền xử lý, mô hình AI dự đoán bệnh và độ tin cậy, sau đó kết quả được lưu và trả về app để hiển thị.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Cơ sở dữ liệu được thiết kế quanh người dùng, lịch sử chẩn đoán, phản hồi và các chức năng chăm sóc cây. Supabase PostgreSQL giúp lưu dữ liệu có cấu trúc, Supabase Storage lưu ảnh, còn Auth quản lý tài khoản và phiên đăng nhập.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ba đi vào dữ liệu và mô hình AI. Đây là phần quan trọng vì chất lượng dữ liệu và cách thiết kế mô hình ảnh hưởng trực tiếp đến khả năng nhận diện bệnh cây.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dữ liệu của đề tài gồm 71 lớp, bao gồm cả các trạng thái bệnh và cây khỏe mạnh. Sau khi làm sạch, dữ liệu được chia thành train, validation và test để theo dõi quá trình học và đánh giá khả năng tổng quát của mô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Trước khi đưa vào mô hình, ảnh cần được kiểm tra và chuẩn hóa. Các ảnh lỗi, quá mờ, quá tối hoặc quá sáng được loại bỏ. Ảnh hợp lệ được resize về 224x224x3 và đưa giá trị điểm ảnh về khoảng 0 đến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Tăng cường dữ liệu giúp mô hình học tốt hơn trong điều kiện thực tế. Các phép như xoay, dịch chuyển, zoom, shear và lật ngang mô phỏng nhiều góc chụp, ánh sáng và cách đặt lá khác nhau. Điều này giúp giảm overfitting.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sử dụng kiến trúc CNN tùy chỉnh. Các tầng Conv2D tăng dần số filter để học đặc trưng từ đơn giản đến phức tạp. BatchNormalization và Swish giúp quá trình học ổn định hơn, còn shortcut connection và SE attention giúp mô hình tập trung vào vùng đặc trưng quan trọng.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dự đoán, mô hình trả về phân phối xác suất qua Softmax cho 71 lớp. Backend tách kết quả thành tên cây và tên bệnh, đồng thời kiểm tra độ tin cậy. Nếu độ tin cậy thấp hơn ngưỡng 60%, app cảnh báo người dùng và cho phép gửi phản hồi.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bốn trình bày quá trình huấn luyện và đánh giá. Nội dung này cho thấy mô hình được học như thế nào và kết quả có đáng tin cậy ở mức nào.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Quá trình huấn luyện sử dụng ImageDataGenerator của Keras, batch size 64 và ảnh đầu vào 224x224x3. Tập validation được dùng để theo dõi quá trình học sau mỗi epoch, còn tập test được giữ riêng để đánh giá sau khi mô hình huấn luyện xong.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Biểu đồ Accuracy và Loss cho thấy mô hình học tốt dần qua các epoch. Accuracy của tập train tăng ổn định, validation cũng cải thiện theo thời gian. Loss giảm ở tập train, còn validation loss dao động nhưng nhìn chung phản ánh khả năng học được đặc trưng chính.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Confusion Matrix giúp nhìn sâu hơn vào từng lớp. Đường chéo càng rõ thì dự đoán càng đúng. Một số lớp có triệu chứng tương tự hoặc dữ liệu chưa đủ đa dạng có thể gây nhầm lẫn, vì vậy phản hồi người dùng và chuyên gia rất quan trọng cho cải thiện sau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vẫn có hạn chế. Kết quả phụ thuộc vào chất lượng ảnh, ánh sáng, góc chụp, phông nền và phạm vi dữ liệu huấn luyện. Vì vậy hệ thống chỉ nên xem là công cụ hỗ trợ tham khảo, đặc biệt với các ca bệnh nặng hoặc triệu chứng phức tạp.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năm là triển khai thực tế. Em tập trung vào app iOS, backend, các dịch vụ tích hợp, kiểm thử và định hướng phát triển.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Ứng dụng iOS được xây dựng bằng SwiftUI với các màn hình chính như đăng nhập, trang chủ, chụp hoặc chọn ảnh, kết quả chẩn đoán, lịch sử, cây của tôi, thời tiết, bản đồ vùng dịch và trợ lý AI. Mục tiêu giao diện là trực quan và dễ thao tác.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Backend FastAPI nhận ảnh từ app, kiểm tra dữ liệu, gọi mô hình AI và trả JSON về app. Supabase hỗ trợ database, auth và storage. Gemini API sinh tư vấn chăm sóc bằng tiếng Việt, OpenWeather cung cấp thời tiết, MapKit và Core Location phục vụ bản đồ.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Kiểm thử bao gồm synthetics, performance test như stress, soak, spike, negative test và unit test cho backend. Kết quả đạt được là một hệ thống app iOS có luồng chẩn đoán, lưu lịch sử, tư vấn và các chức năng chăm sóc. Hướng phát triển là mở rộng dữ liệu, tối ưu mô hình và phát hiện vùng tổn thương trên ảnh.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xin kết thúc phần trình bày tại đây. Em rất mong nhận được câu hỏi và góp ý từ quý thầy cô để hệ thống có thể tiếp tục hoàn thiện hơn.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0f459de0d347bb" /><Relationship Type="http://schemas.openxmlformats.org/officeDocument/2006/relationships/image" Target="/ppt/media/image2.png" Id="R08cb4b7b816643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f2177a4b9c4ffc" /><Relationship Type="http://schemas.openxmlformats.org/officeDocument/2006/relationships/image" Target="/ppt/media/image3.png" Id="R0ea31bdbfcd14fb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12c25d7d3c24a02" /><Relationship Type="http://schemas.openxmlformats.org/officeDocument/2006/relationships/image" Target="/ppt/media/image.png" Id="R090884dd621740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e563240a824403" /><Relationship Type="http://schemas.openxmlformats.org/officeDocument/2006/relationships/image" Target="/ppt/media/image4.png" Id="R1272bafb6f6343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104b811ba945ae" /><Relationship Type="http://schemas.openxmlformats.org/officeDocument/2006/relationships/image" Target="/ppt/media/image5.png" Id="R4304489f9fd04f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1a65ba16d6b4f21" /><Relationship Type="http://schemas.openxmlformats.org/officeDocument/2006/relationships/image" Target="/ppt/media/image5.png" Id="R3a070d16f49b4dc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3896454b7514acd" /><Relationship Type="http://schemas.openxmlformats.org/officeDocument/2006/relationships/image" Target="/ppt/media/image6.png" Id="Rf429956e48424e7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566601df908468c" /><Relationship Type="http://schemas.openxmlformats.org/officeDocument/2006/relationships/image" Target="/ppt/media/image7.png" Id="R0d4de475aa76451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93f845663cc4ed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825a6d49370a4e1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bf9bd05939a14dc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7bd98f1e047241b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58142476517541c2"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2b2b57a2edd84ce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646c4477deb1434d"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ec3ad280c6714832"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cbbee8673a6b4355"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a7ab12ad3fa14344"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6fde8aafd98c4fbc"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a6ebd800f92e4000" /></Relationships>
</file>

<file path=ppt/slideLayouts/slideLayout1.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08E8A80-BEDD-3B8B-E0AD-2A4B196EDD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909B663-BDC2-451F-9FFD-E3F973D4142A}" type="datetimeFigureOut">
              <a:t>8/29/2025</a:t>
            </a:fld>
          </a:p>
        </p:txBody>
      </p:sp>
      <p:sp>
        <p:nvSpPr>
          <p:cNvPr id="3" name="Footer Placeholder 2">
            <a:extLst xmlns:a="http://schemas.openxmlformats.org/drawingml/2006/main">
              <a:ext uri="{FF2B5EF4-FFF2-40B4-BE49-F238E27FC236}">
                <a16:creationId xmlns:a16="http://schemas.microsoft.com/office/drawing/2014/main" id="{3F0F12E3-C460-CFF0-2397-9891E413AC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E14D2489-055A-4040-3BD6-71CE92E3A45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A9A2A8-896A-4908-99A1-F33C2133E199}" type="slidenum">
              <a:t>‹#›</a:t>
            </a:fld>
          </a:p>
        </p:txBody>
      </p:sp>
      <p:pic>
        <p:nvPicPr>
          <p:cNvPr id="5" name="Picture 6"/>
          <p:cNvPicPr>
            <a:picLocks xmlns:a="http://schemas.openxmlformats.org/drawingml/2006/main" noChangeAspect="1"/>
          </p:cNvPicPr>
          <p:nvPr/>
        </p:nvPicPr>
        <p:blipFill>
          <a:blip xmlns:r="http://schemas.openxmlformats.org/officeDocument/2006/relationships" xmlns:a="http://schemas.openxmlformats.org/drawingml/2006/main" r:embed="R08cb4b7b816643ef"/>
          <a:stretch xmlns:a="http://schemas.openxmlformats.org/drawingml/2006/main">
            <a:fillRect l="0" t="0" r="0" b="0"/>
          </a:stretch>
        </p:blipFill>
        <p:spPr>
          <a:xfrm xmlns:a="http://schemas.openxmlformats.org/drawingml/2006/main">
            <a:off x="148" y="0"/>
            <a:ext cx="12191851" cy="6858084"/>
          </a:xfrm>
          <a:prstGeom xmlns:a="http://schemas.openxmlformats.org/drawingml/2006/main" prst="rect">
            <a:avLst/>
          </a:prstGeom>
        </p:spPr>
      </p:pic>
    </p:spTree>
  </p:cSld>
</p:sldLayout>
</file>

<file path=ppt/slideLayouts/slideLayout2.xml><?xml version="1.0" encoding="utf-8"?>
<p:sldLayout xmlns:p="http://schemas.openxmlformats.org/presentationml/2006/main" type="blank" preserve="1">
  <p:cSld name="1_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08E8A80-BEDD-3B8B-E0AD-2A4B196EDD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909B663-BDC2-451F-9FFD-E3F973D4142A}" type="datetimeFigureOut">
              <a:t>8/29/2025</a:t>
            </a:fld>
          </a:p>
        </p:txBody>
      </p:sp>
      <p:sp>
        <p:nvSpPr>
          <p:cNvPr id="3" name="Footer Placeholder 2">
            <a:extLst xmlns:a="http://schemas.openxmlformats.org/drawingml/2006/main">
              <a:ext uri="{FF2B5EF4-FFF2-40B4-BE49-F238E27FC236}">
                <a16:creationId xmlns:a16="http://schemas.microsoft.com/office/drawing/2014/main" id="{3F0F12E3-C460-CFF0-2397-9891E413AC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E14D2489-055A-4040-3BD6-71CE92E3A45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A9A2A8-896A-4908-99A1-F33C2133E199}" type="slidenum">
              <a:t>‹#›</a:t>
            </a:fld>
          </a:p>
        </p:txBody>
      </p:sp>
      <p:pic>
        <p:nvPicPr>
          <p:cNvPr id="5" name="Picture 5"/>
          <p:cNvPicPr>
            <a:picLocks xmlns:a="http://schemas.openxmlformats.org/drawingml/2006/main" noChangeAspect="1"/>
          </p:cNvPicPr>
          <p:nvPr/>
        </p:nvPicPr>
        <p:blipFill>
          <a:blip xmlns:r="http://schemas.openxmlformats.org/officeDocument/2006/relationships" xmlns:a="http://schemas.openxmlformats.org/drawingml/2006/main" r:embed="R0ea31bdbfcd14fb3"/>
          <a:stretch xmlns:a="http://schemas.openxmlformats.org/drawingml/2006/main">
            <a:fillRect l="0" t="0" r="0" b="0"/>
          </a:stretch>
        </p:blipFill>
        <p:spPr>
          <a:xfrm xmlns:a="http://schemas.openxmlformats.org/drawingml/2006/main">
            <a:off x="149" y="0"/>
            <a:ext cx="12191702" cy="6858000"/>
          </a:xfrm>
          <a:prstGeom xmlns:a="http://schemas.openxmlformats.org/drawingml/2006/main" prst="rect">
            <a:avLst/>
          </a:prstGeom>
        </p:spPr>
      </p:pic>
    </p:spTree>
  </p:cSld>
</p:sldLayout>
</file>

<file path=ppt/slideLayouts/slideLayout3.xml><?xml version="1.0" encoding="utf-8"?>
<p:sldLayout xmlns:p="http://schemas.openxmlformats.org/presentationml/2006/main" type="vertTx" preserve="1">
  <p:cSld name="1a">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A94B1C-90AA-693B-D6E2-F6D98D12F7F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6E21D79-A5C5-6907-425F-1E81D8286DE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4090E792-172A-833A-6F50-587F56B7BD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909B663-BDC2-451F-9FFD-E3F973D4142A}" type="datetimeFigureOut">
              <a:t>8/29/2025</a:t>
            </a:fld>
          </a:p>
        </p:txBody>
      </p:sp>
      <p:sp>
        <p:nvSpPr>
          <p:cNvPr id="5" name="Footer Placeholder 4">
            <a:extLst xmlns:a="http://schemas.openxmlformats.org/drawingml/2006/main">
              <a:ext uri="{FF2B5EF4-FFF2-40B4-BE49-F238E27FC236}">
                <a16:creationId xmlns:a16="http://schemas.microsoft.com/office/drawing/2014/main" id="{54AC9770-2139-DEAD-D8C8-9D453CF578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pic>
        <p:nvPicPr>
          <p:cNvPr id="6" name="Picture 8"/>
          <p:cNvPicPr>
            <a:picLocks xmlns:a="http://schemas.openxmlformats.org/drawingml/2006/main" noChangeAspect="1"/>
          </p:cNvPicPr>
          <p:nvPr/>
        </p:nvPicPr>
        <p:blipFill>
          <a:blip xmlns:r="http://schemas.openxmlformats.org/officeDocument/2006/relationships" xmlns:a="http://schemas.openxmlformats.org/drawingml/2006/main" r:embed="R090884dd621740d5"/>
          <a:stretch xmlns:a="http://schemas.openxmlformats.org/drawingml/2006/main">
            <a:fillRect l="0" t="0" r="0" b="0"/>
          </a:stretch>
        </p:blipFill>
        <p:spPr>
          <a:xfrm xmlns:a="http://schemas.openxmlformats.org/drawingml/2006/main">
            <a:off x="0" y="0"/>
            <a:ext cx="12191851" cy="6858084"/>
          </a:xfrm>
          <a:prstGeom xmlns:a="http://schemas.openxmlformats.org/drawingml/2006/main" prst="rect">
            <a:avLst/>
          </a:prstGeom>
        </p:spPr>
      </p:pic>
      <p:sp>
        <p:nvSpPr>
          <p:cNvPr id="10" name="Slide Number Placeholder 5">
            <a:extLst xmlns:a="http://schemas.openxmlformats.org/drawingml/2006/main">
              <a:ext uri="{FF2B5EF4-FFF2-40B4-BE49-F238E27FC236}">
                <a16:creationId xmlns:a16="http://schemas.microsoft.com/office/drawing/2014/main" id="{2770F933-14CE-2DB1-9EE7-6BD214FCC5AA}"/>
              </a:ext>
            </a:extLst>
          </p:cNvPr>
          <p:cNvSpPr>
            <a:spLocks xmlns:a="http://schemas.openxmlformats.org/drawingml/2006/main" noGrp="1"/>
          </p:cNvSpPr>
          <p:nvPr>
            <p:ph type="sldNum" idx="12"/>
          </p:nvPr>
        </p:nvSpPr>
        <p:spPr>
          <a:xfrm xmlns:a="http://schemas.openxmlformats.org/drawingml/2006/main">
            <a:off x="4724325" y="6400090"/>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4A9A2A8-896A-4908-99A1-F33C2133E199}" type="slidenum">
              <a:t>‹#›</a:t>
            </a:fld>
          </a:p>
        </p:txBody>
      </p:sp>
      <p:sp>
        <p:nvSpPr>
          <p:cNvPr id="11" name="TextBox 10">
            <a:extLst xmlns:a="http://schemas.openxmlformats.org/drawingml/2006/main">
              <a:ext uri="{FF2B5EF4-FFF2-40B4-BE49-F238E27FC236}">
                <a16:creationId xmlns:a16="http://schemas.microsoft.com/office/drawing/2014/main" id="{3B883601-79FC-DA84-BAE6-F3073BDC4694}"/>
              </a:ext>
            </a:extLst>
          </p:cNvPr>
          <p:cNvSpPr>
            <a:spLocks xmlns:a="http://schemas.openxmlformats.org/drawingml/2006/main" noGrp="1"/>
          </p:cNvSpPr>
          <p:nvPr/>
        </p:nvSpPr>
        <p:spPr>
          <a:xfrm xmlns:a="http://schemas.openxmlformats.org/drawingml/2006/main">
            <a:off x="282121" y="155571"/>
            <a:ext cx="3855358"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bg1">
                    <a:lumMod val="50000"/>
                  </a:schemeClr>
                </a:solidFill>
                <a:latin typeface="UTM Neutra"/>
                <a:ea typeface="UTM Neutra"/>
                <a:cs typeface="UTM Neutra"/>
              </a:rPr>
              <a:t>CHƯƠNG 1: TỔNG QUAN</a:t>
            </a:r>
          </a:p>
        </p:txBody>
      </p:sp>
      <p:sp>
        <p:nvSpPr>
          <p:cNvPr id="12" name="Straight Connector 11">
            <a:extLst xmlns:a="http://schemas.openxmlformats.org/drawingml/2006/main">
              <a:ext uri="{FF2B5EF4-FFF2-40B4-BE49-F238E27FC236}">
                <a16:creationId xmlns:a16="http://schemas.microsoft.com/office/drawing/2014/main" id="{A73958A0-847B-45CA-81D3-89A40CA4EFE7}"/>
              </a:ext>
            </a:extLst>
          </p:cNvPr>
          <p:cNvSpPr>
            <a:spLocks xmlns:a="http://schemas.openxmlformats.org/drawingml/2006/main" noGrp="1"/>
          </p:cNvSpPr>
          <p:nvPr/>
        </p:nvSpPr>
        <p:spPr>
          <a:xfrm xmlns:a="http://schemas.openxmlformats.org/drawingml/2006/main">
            <a:off x="371475" y="501012"/>
            <a:ext cx="2335149" cy="0"/>
          </a:xfrm>
          <a:prstGeom xmlns:a="http://schemas.openxmlformats.org/drawingml/2006/main" prst="line">
            <a:avLst/>
          </a:prstGeom>
          <a:ln xmlns:a="http://schemas.openxmlformats.org/drawingml/2006/main" w="28575">
            <a:solidFill>
              <a:schemeClr val="bg2">
                <a:lumMod val="50000"/>
              </a:schemeClr>
            </a:solidFill>
          </a:ln>
        </p:spPr>
        <p:style>
          <a:lnRef xmlns:a="http://schemas.openxmlformats.org/drawingml/2006/main" idx="1">
            <a:schemeClr val="accent3"/>
          </a:lnRef>
          <a:fillRef xmlns:a="http://schemas.openxmlformats.org/drawingml/2006/main" idx="0">
            <a:schemeClr val="accent3"/>
          </a:fillRef>
          <a:effectRef xmlns:a="http://schemas.openxmlformats.org/drawingml/2006/main" idx="0">
            <a:schemeClr val="accent3"/>
          </a:effectRef>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2D06680A-407A-232D-71BD-099E05DE8702}"/>
              </a:ext>
            </a:extLst>
          </p:cNvPr>
          <p:cNvSpPr>
            <a:spLocks xmlns:a="http://schemas.openxmlformats.org/drawingml/2006/main" noGrp="1"/>
          </p:cNvSpPr>
          <p:nvPr/>
        </p:nvSpPr>
        <p:spPr>
          <a:xfrm xmlns:a="http://schemas.openxmlformats.org/drawingml/2006/main">
            <a:off x="282121" y="524902"/>
            <a:ext cx="3855358"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a:solidFill>
                  <a:srgbClr val="085189"/>
                </a:solidFill>
                <a:latin typeface="UTM Neutra"/>
                <a:ea typeface="UTM Neutra"/>
                <a:cs typeface="UTM Neutra"/>
              </a:rPr>
              <a:t>1.1 ĐỀ CƯƠNG CHI TIẾT</a:t>
            </a:r>
          </a:p>
        </p:txBody>
      </p:sp>
    </p:spTree>
  </p:cSld>
</p:sldLayout>
</file>

<file path=ppt/slideLayouts/slideLayout4.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45AD15-D119-3EC8-CC44-70BEA3B65040}"/>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0AA86BB-6BC0-9D87-3DB9-785B71EFD3DF}"/>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1AC3F056-854A-B42C-E05E-FAD8E313A39D}"/>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1260A57-B6F0-C52A-A084-BED7929799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909B663-BDC2-451F-9FFD-E3F973D4142A}" type="datetimeFigureOut">
              <a:t>8/29/2025</a:t>
            </a:fld>
          </a:p>
        </p:txBody>
      </p:sp>
      <p:sp>
        <p:nvSpPr>
          <p:cNvPr id="6" name="Footer Placeholder 5">
            <a:extLst xmlns:a="http://schemas.openxmlformats.org/drawingml/2006/main">
              <a:ext uri="{FF2B5EF4-FFF2-40B4-BE49-F238E27FC236}">
                <a16:creationId xmlns:a16="http://schemas.microsoft.com/office/drawing/2014/main" id="{88BC4353-A360-8F1B-B427-2F470FB6BD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pic>
        <p:nvPicPr>
          <p:cNvPr id="7" name="Picture 9"/>
          <p:cNvPicPr>
            <a:picLocks xmlns:a="http://schemas.openxmlformats.org/drawingml/2006/main" noChangeAspect="1"/>
          </p:cNvPicPr>
          <p:nvPr/>
        </p:nvPicPr>
        <p:blipFill>
          <a:blip xmlns:r="http://schemas.openxmlformats.org/officeDocument/2006/relationships" xmlns:a="http://schemas.openxmlformats.org/drawingml/2006/main" r:embed="R1272bafb6f634386"/>
          <a:stretch xmlns:a="http://schemas.openxmlformats.org/drawingml/2006/main">
            <a:fillRect l="0" t="0" r="0" b="0"/>
          </a:stretch>
        </p:blipFill>
        <p:spPr>
          <a:xfrm xmlns:a="http://schemas.openxmlformats.org/drawingml/2006/main">
            <a:off x="148" y="0"/>
            <a:ext cx="12191851" cy="6858084"/>
          </a:xfrm>
          <a:prstGeom xmlns:a="http://schemas.openxmlformats.org/drawingml/2006/main" prst="rect">
            <a:avLst/>
          </a:prstGeom>
        </p:spPr>
      </p:pic>
      <p:sp>
        <p:nvSpPr>
          <p:cNvPr id="11" name="Slide Number Placeholder 3">
            <a:extLst xmlns:a="http://schemas.openxmlformats.org/drawingml/2006/main">
              <a:ext uri="{FF2B5EF4-FFF2-40B4-BE49-F238E27FC236}">
                <a16:creationId xmlns:a16="http://schemas.microsoft.com/office/drawing/2014/main" id="{0E5ECC14-5837-1A2A-4230-80B7946BBE51}"/>
              </a:ext>
            </a:extLst>
          </p:cNvPr>
          <p:cNvSpPr>
            <a:spLocks xmlns:a="http://schemas.openxmlformats.org/drawingml/2006/main" noGrp="1"/>
          </p:cNvSpPr>
          <p:nvPr/>
        </p:nvSpPr>
        <p:spPr>
          <a:xfrm xmlns:a="http://schemas.openxmlformats.org/drawingml/2006/main">
            <a:off x="3400425" y="6488766"/>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marL="0" algn="r">
              <a:buNone/>
              <a:defRPr sz="1200">
                <a:solidFill>
                  <a:schemeClr val="tx1">
                    <a:tint val="75000"/>
                  </a:schemeClr>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a:lstStyle>
          <a:p xmlns:a="http://schemas.openxmlformats.org/drawingml/2006/main">
            <a:fld id="{44A9A2A8-896A-4908-99A1-F33C2133E199}" type="slidenum">
              <a:rPr>
                <a:solidFill>
                  <a:schemeClr val="bg1"/>
                </a:solidFill>
              </a:rPr>
              <a:t>‹#›</a:t>
            </a:fld>
          </a:p>
        </p:txBody>
      </p:sp>
      <p:sp>
        <p:nvSpPr>
          <p:cNvPr id="12" name="TextBox 11">
            <a:extLst xmlns:a="http://schemas.openxmlformats.org/drawingml/2006/main">
              <a:ext uri="{FF2B5EF4-FFF2-40B4-BE49-F238E27FC236}">
                <a16:creationId xmlns:a16="http://schemas.microsoft.com/office/drawing/2014/main" id="{2A2E9BD3-7155-55B5-DC53-19DEAEE2ACE7}"/>
              </a:ext>
            </a:extLst>
          </p:cNvPr>
          <p:cNvSpPr>
            <a:spLocks xmlns:a="http://schemas.openxmlformats.org/drawingml/2006/main" noGrp="1"/>
          </p:cNvSpPr>
          <p:nvPr/>
        </p:nvSpPr>
        <p:spPr>
          <a:xfrm xmlns:a="http://schemas.openxmlformats.org/drawingml/2006/main">
            <a:off x="282121" y="155571"/>
            <a:ext cx="3855358"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bg1">
                    <a:lumMod val="50000"/>
                  </a:schemeClr>
                </a:solidFill>
                <a:latin typeface="UTM Neutra"/>
                <a:ea typeface="UTM Neutra"/>
                <a:cs typeface="UTM Neutra"/>
              </a:rPr>
              <a:t>CHƯƠNG 1: TỔNG QUAN</a:t>
            </a:r>
          </a:p>
        </p:txBody>
      </p:sp>
      <p:sp>
        <p:nvSpPr>
          <p:cNvPr id="13" name="Straight Connector 12">
            <a:extLst xmlns:a="http://schemas.openxmlformats.org/drawingml/2006/main">
              <a:ext uri="{FF2B5EF4-FFF2-40B4-BE49-F238E27FC236}">
                <a16:creationId xmlns:a16="http://schemas.microsoft.com/office/drawing/2014/main" id="{F1CC63FB-ABA7-4F51-AA9F-66050F34BB21}"/>
              </a:ext>
            </a:extLst>
          </p:cNvPr>
          <p:cNvSpPr>
            <a:spLocks xmlns:a="http://schemas.openxmlformats.org/drawingml/2006/main" noGrp="1"/>
          </p:cNvSpPr>
          <p:nvPr/>
        </p:nvSpPr>
        <p:spPr>
          <a:xfrm xmlns:a="http://schemas.openxmlformats.org/drawingml/2006/main">
            <a:off x="371475" y="501012"/>
            <a:ext cx="2335149" cy="0"/>
          </a:xfrm>
          <a:prstGeom xmlns:a="http://schemas.openxmlformats.org/drawingml/2006/main" prst="line">
            <a:avLst/>
          </a:prstGeom>
          <a:ln xmlns:a="http://schemas.openxmlformats.org/drawingml/2006/main" w="28575">
            <a:solidFill>
              <a:schemeClr val="bg2">
                <a:lumMod val="50000"/>
              </a:schemeClr>
            </a:solidFill>
          </a:ln>
        </p:spPr>
        <p:style>
          <a:lnRef xmlns:a="http://schemas.openxmlformats.org/drawingml/2006/main" idx="1">
            <a:schemeClr val="accent3"/>
          </a:lnRef>
          <a:fillRef xmlns:a="http://schemas.openxmlformats.org/drawingml/2006/main" idx="0">
            <a:schemeClr val="accent3"/>
          </a:fillRef>
          <a:effectRef xmlns:a="http://schemas.openxmlformats.org/drawingml/2006/main" idx="0">
            <a:schemeClr val="accent3"/>
          </a:effectRef>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57B06640-5366-A68D-F217-AB17AE3CEB1E}"/>
              </a:ext>
            </a:extLst>
          </p:cNvPr>
          <p:cNvSpPr>
            <a:spLocks xmlns:a="http://schemas.openxmlformats.org/drawingml/2006/main" noGrp="1"/>
          </p:cNvSpPr>
          <p:nvPr/>
        </p:nvSpPr>
        <p:spPr>
          <a:xfrm xmlns:a="http://schemas.openxmlformats.org/drawingml/2006/main">
            <a:off x="282121" y="524902"/>
            <a:ext cx="3855358"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a:solidFill>
                  <a:srgbClr val="085189"/>
                </a:solidFill>
                <a:latin typeface="UTM Neutra"/>
                <a:ea typeface="UTM Neutra"/>
                <a:cs typeface="UTM Neutra"/>
              </a:rPr>
              <a:t>1.1 ĐỀ CƯƠNG CHI TIẾT</a:t>
            </a:r>
          </a:p>
        </p:txBody>
      </p:sp>
    </p:spTree>
  </p:cSld>
</p:sldLayout>
</file>

<file path=ppt/slideLayouts/slideLayout5.xml><?xml version="1.0" encoding="utf-8"?>
<p:sldLayout xmlns:p="http://schemas.openxmlformats.org/presentationml/2006/main" preserve="1" userDrawn="1">
  <p:cSld name="1_Title Slide">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7932B175-B3D0-2F50-4BE0-5C1C5BFAC8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909B663-BDC2-451F-9FFD-E3F973D4142A}" type="datetimeFigureOut">
              <a:t>8/29/2025</a:t>
            </a:fld>
          </a:p>
        </p:txBody>
      </p:sp>
      <p:sp>
        <p:nvSpPr>
          <p:cNvPr id="5" name="Footer Placeholder 4">
            <a:extLst xmlns:a="http://schemas.openxmlformats.org/drawingml/2006/main">
              <a:ext uri="{FF2B5EF4-FFF2-40B4-BE49-F238E27FC236}">
                <a16:creationId xmlns:a16="http://schemas.microsoft.com/office/drawing/2014/main" id="{5784F3EE-651B-C7A4-7C4B-F86E5D1791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4DCEE28-EB67-1727-82A8-9EB50F933E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A9A2A8-896A-4908-99A1-F33C2133E199}" type="slidenum">
              <a:t>‹#›</a:t>
            </a:fld>
          </a:p>
        </p:txBody>
      </p:sp>
      <p:pic>
        <p:nvPicPr>
          <p:cNvPr id="7" name="Picture 7"/>
          <p:cNvPicPr>
            <a:picLocks xmlns:a="http://schemas.openxmlformats.org/drawingml/2006/main" noChangeAspect="1"/>
          </p:cNvPicPr>
          <p:nvPr/>
        </p:nvPicPr>
        <p:blipFill>
          <a:blip xmlns:r="http://schemas.openxmlformats.org/officeDocument/2006/relationships" xmlns:a="http://schemas.openxmlformats.org/drawingml/2006/main" r:embed="R4304489f9fd04fc2"/>
          <a:stretch xmlns:a="http://schemas.openxmlformats.org/drawingml/2006/main">
            <a:fillRect l="0" t="0" r="0" b="0"/>
          </a:stretch>
        </p:blipFill>
        <p:spPr>
          <a:xfrm xmlns:a="http://schemas.openxmlformats.org/drawingml/2006/main">
            <a:off x="0" y="5457371"/>
            <a:ext cx="12192000" cy="1400629"/>
          </a:xfrm>
          <a:prstGeom xmlns:a="http://schemas.openxmlformats.org/drawingml/2006/main" prst="rect">
            <a:avLst/>
          </a:prstGeom>
        </p:spPr>
      </p:pic>
      <p:sp>
        <p:nvSpPr>
          <p:cNvPr id="11" name="Slide Number Placeholder 3">
            <a:extLst xmlns:a="http://schemas.openxmlformats.org/drawingml/2006/main">
              <a:ext uri="{FF2B5EF4-FFF2-40B4-BE49-F238E27FC236}">
                <a16:creationId xmlns:a16="http://schemas.microsoft.com/office/drawing/2014/main" id="{7C9DFFF3-6EF9-386C-317D-6AFECFF277C3}"/>
              </a:ext>
            </a:extLst>
          </p:cNvPr>
          <p:cNvSpPr>
            <a:spLocks xmlns:a="http://schemas.openxmlformats.org/drawingml/2006/main" noGrp="1"/>
          </p:cNvSpPr>
          <p:nvPr/>
        </p:nvSpPr>
        <p:spPr>
          <a:xfrm xmlns:a="http://schemas.openxmlformats.org/drawingml/2006/main">
            <a:off x="92964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marL="0" algn="r">
              <a:buNone/>
              <a:defRPr sz="1200">
                <a:solidFill>
                  <a:schemeClr val="tx1">
                    <a:tint val="75000"/>
                  </a:schemeClr>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a:lstStyle>
          <a:p xmlns:a="http://schemas.openxmlformats.org/drawingml/2006/main">
            <a:fld id="{44A9A2A8-896A-4908-99A1-F33C2133E199}" type="slidenum">
              <a:rPr>
                <a:solidFill>
                  <a:schemeClr val="bg1"/>
                </a:solidFill>
              </a:rPr>
              <a:t>‹#›</a:t>
            </a:fld>
          </a:p>
        </p:txBody>
      </p:sp>
      <p:sp>
        <p:nvSpPr>
          <p:cNvPr id="12" name="TextBox 11">
            <a:extLst xmlns:a="http://schemas.openxmlformats.org/drawingml/2006/main">
              <a:ext uri="{FF2B5EF4-FFF2-40B4-BE49-F238E27FC236}">
                <a16:creationId xmlns:a16="http://schemas.microsoft.com/office/drawing/2014/main" id="{2D2460D0-200A-937A-8A2A-B7A97F2A8D23}"/>
              </a:ext>
            </a:extLst>
          </p:cNvPr>
          <p:cNvSpPr>
            <a:spLocks xmlns:a="http://schemas.openxmlformats.org/drawingml/2006/main" noGrp="1"/>
          </p:cNvSpPr>
          <p:nvPr/>
        </p:nvSpPr>
        <p:spPr>
          <a:xfrm xmlns:a="http://schemas.openxmlformats.org/drawingml/2006/main">
            <a:off x="297543" y="217714"/>
            <a:ext cx="3855358"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a:solidFill>
                  <a:schemeClr val="bg1">
                    <a:lumMod val="50000"/>
                  </a:schemeClr>
                </a:solidFill>
                <a:latin typeface="UTM Neutra"/>
                <a:ea typeface="UTM Neutra"/>
                <a:cs typeface="UTM Neutra"/>
              </a:rPr>
              <a:t>CHƯƠNG 1: TỔNG QUAN</a:t>
            </a:r>
          </a:p>
        </p:txBody>
      </p:sp>
      <p:sp>
        <p:nvSpPr>
          <p:cNvPr id="14" name="Straight Connector 13">
            <a:extLst xmlns:a="http://schemas.openxmlformats.org/drawingml/2006/main">
              <a:ext uri="{FF2B5EF4-FFF2-40B4-BE49-F238E27FC236}">
                <a16:creationId xmlns:a16="http://schemas.microsoft.com/office/drawing/2014/main" id="{D9369D97-69C2-45CC-9E69-077035B92923}"/>
              </a:ext>
            </a:extLst>
          </p:cNvPr>
          <p:cNvSpPr>
            <a:spLocks xmlns:a="http://schemas.openxmlformats.org/drawingml/2006/main" noGrp="1"/>
          </p:cNvSpPr>
          <p:nvPr/>
        </p:nvSpPr>
        <p:spPr>
          <a:xfrm xmlns:a="http://schemas.openxmlformats.org/drawingml/2006/main" flipV="1">
            <a:off x="371475" y="494125"/>
            <a:ext cx="2047634" cy="588"/>
          </a:xfrm>
          <a:prstGeom xmlns:a="http://schemas.openxmlformats.org/drawingml/2006/main" prst="line">
            <a:avLst/>
          </a:prstGeom>
          <a:ln xmlns:a="http://schemas.openxmlformats.org/drawingml/2006/main" w="12700"/>
        </p:spPr>
        <p:style>
          <a:lnRef xmlns:a="http://schemas.openxmlformats.org/drawingml/2006/main" idx="1">
            <a:schemeClr val="accent3"/>
          </a:lnRef>
          <a:fillRef xmlns:a="http://schemas.openxmlformats.org/drawingml/2006/main" idx="0">
            <a:schemeClr val="accent3"/>
          </a:fillRef>
          <a:effectRef xmlns:a="http://schemas.openxmlformats.org/drawingml/2006/main" idx="0">
            <a:schemeClr val="accent3"/>
          </a:effectRef>
          <a:fontRef xmlns:a="http://schemas.openxmlformats.org/drawingml/2006/main" idx="minor">
            <a:schemeClr val="tx1"/>
          </a:fontRef>
        </p:style>
      </p:sp>
      <p:sp>
        <p:nvSpPr>
          <p:cNvPr id="16" name="TextBox 15">
            <a:extLst xmlns:a="http://schemas.openxmlformats.org/drawingml/2006/main">
              <a:ext uri="{FF2B5EF4-FFF2-40B4-BE49-F238E27FC236}">
                <a16:creationId xmlns:a16="http://schemas.microsoft.com/office/drawing/2014/main" id="{D2BEE2CC-74A1-111D-2E46-E975A15F4E03}"/>
              </a:ext>
            </a:extLst>
          </p:cNvPr>
          <p:cNvSpPr>
            <a:spLocks xmlns:a="http://schemas.openxmlformats.org/drawingml/2006/main" noGrp="1"/>
          </p:cNvSpPr>
          <p:nvPr/>
        </p:nvSpPr>
        <p:spPr>
          <a:xfrm xmlns:a="http://schemas.openxmlformats.org/drawingml/2006/main">
            <a:off x="3402693" y="217126"/>
            <a:ext cx="3855358"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a:solidFill>
                  <a:srgbClr val="085189"/>
                </a:solidFill>
                <a:latin typeface="UTM Neutra"/>
                <a:ea typeface="UTM Neutra"/>
                <a:cs typeface="UTM Neutra"/>
              </a:rPr>
              <a:t>1.1 ĐỀ CƯƠNG CHI TIẾT</a:t>
            </a:r>
          </a:p>
        </p:txBody>
      </p:sp>
      <p:sp>
        <p:nvSpPr>
          <p:cNvPr id="17" name="Straight Connector 16">
            <a:extLst xmlns:a="http://schemas.openxmlformats.org/drawingml/2006/main">
              <a:ext uri="{FF2B5EF4-FFF2-40B4-BE49-F238E27FC236}">
                <a16:creationId xmlns:a16="http://schemas.microsoft.com/office/drawing/2014/main" id="{87F76601-D03A-4143-A56F-B43C05C7CD2D}"/>
              </a:ext>
            </a:extLst>
          </p:cNvPr>
          <p:cNvSpPr>
            <a:spLocks xmlns:a="http://schemas.openxmlformats.org/drawingml/2006/main" noGrp="1"/>
          </p:cNvSpPr>
          <p:nvPr/>
        </p:nvSpPr>
        <p:spPr>
          <a:xfrm xmlns:a="http://schemas.openxmlformats.org/drawingml/2006/main">
            <a:off x="3476625" y="494125"/>
            <a:ext cx="1639385" cy="0"/>
          </a:xfrm>
          <a:prstGeom xmlns:a="http://schemas.openxmlformats.org/drawingml/2006/main" prst="line">
            <a:avLst/>
          </a:prstGeom>
          <a:ln xmlns:a="http://schemas.openxmlformats.org/drawingml/2006/main" w="12700">
            <a:solidFill>
              <a:srgbClr val="085189"/>
            </a:solidFill>
          </a:ln>
        </p:spPr>
        <p:style>
          <a:lnRef xmlns:a="http://schemas.openxmlformats.org/drawingml/2006/main" idx="1">
            <a:schemeClr val="accent3"/>
          </a:lnRef>
          <a:fillRef xmlns:a="http://schemas.openxmlformats.org/drawingml/2006/main" idx="0">
            <a:schemeClr val="accent3"/>
          </a:fillRef>
          <a:effectRef xmlns:a="http://schemas.openxmlformats.org/drawingml/2006/main" idx="0">
            <a:schemeClr val="accent3"/>
          </a:effectRef>
          <a:fontRef xmlns:a="http://schemas.openxmlformats.org/drawingml/2006/main" idx="minor">
            <a:schemeClr val="tx1"/>
          </a:fontRef>
        </p:style>
      </p:sp>
    </p:spTree>
  </p:cSld>
</p:sldLayout>
</file>

<file path=ppt/slideLayouts/slideLayout6.xml><?xml version="1.0" encoding="utf-8"?>
<p:sldLayout xmlns:p="http://schemas.openxmlformats.org/presentationml/2006/main" preserve="1" userDrawn="1">
  <p:cSld name="4_Title Slide">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7932B175-B3D0-2F50-4BE0-5C1C5BFAC8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909B663-BDC2-451F-9FFD-E3F973D4142A}" type="datetimeFigureOut">
              <a:t>8/29/2025</a:t>
            </a:fld>
          </a:p>
        </p:txBody>
      </p:sp>
      <p:sp>
        <p:nvSpPr>
          <p:cNvPr id="5" name="Footer Placeholder 4">
            <a:extLst xmlns:a="http://schemas.openxmlformats.org/drawingml/2006/main">
              <a:ext uri="{FF2B5EF4-FFF2-40B4-BE49-F238E27FC236}">
                <a16:creationId xmlns:a16="http://schemas.microsoft.com/office/drawing/2014/main" id="{5784F3EE-651B-C7A4-7C4B-F86E5D1791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4DCEE28-EB67-1727-82A8-9EB50F933E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A9A2A8-896A-4908-99A1-F33C2133E199}" type="slidenum">
              <a:t>‹#›</a:t>
            </a:fld>
          </a:p>
        </p:txBody>
      </p:sp>
      <p:pic>
        <p:nvPicPr>
          <p:cNvPr id="7" name="Picture 7"/>
          <p:cNvPicPr>
            <a:picLocks xmlns:a="http://schemas.openxmlformats.org/drawingml/2006/main" noChangeAspect="1"/>
          </p:cNvPicPr>
          <p:nvPr/>
        </p:nvPicPr>
        <p:blipFill>
          <a:blip xmlns:r="http://schemas.openxmlformats.org/officeDocument/2006/relationships" xmlns:a="http://schemas.openxmlformats.org/drawingml/2006/main" r:embed="R3a070d16f49b4dc6"/>
          <a:stretch xmlns:a="http://schemas.openxmlformats.org/drawingml/2006/main">
            <a:fillRect l="0" t="0" r="0" b="0"/>
          </a:stretch>
        </p:blipFill>
        <p:spPr>
          <a:xfrm xmlns:a="http://schemas.openxmlformats.org/drawingml/2006/main">
            <a:off x="0" y="5457371"/>
            <a:ext cx="12192000" cy="1400629"/>
          </a:xfrm>
          <a:prstGeom xmlns:a="http://schemas.openxmlformats.org/drawingml/2006/main" prst="rect">
            <a:avLst/>
          </a:prstGeom>
        </p:spPr>
      </p:pic>
      <p:sp>
        <p:nvSpPr>
          <p:cNvPr id="11" name="Slide Number Placeholder 3">
            <a:extLst xmlns:a="http://schemas.openxmlformats.org/drawingml/2006/main">
              <a:ext uri="{FF2B5EF4-FFF2-40B4-BE49-F238E27FC236}">
                <a16:creationId xmlns:a16="http://schemas.microsoft.com/office/drawing/2014/main" id="{7C9DFFF3-6EF9-386C-317D-6AFECFF277C3}"/>
              </a:ext>
            </a:extLst>
          </p:cNvPr>
          <p:cNvSpPr>
            <a:spLocks xmlns:a="http://schemas.openxmlformats.org/drawingml/2006/main" noGrp="1"/>
          </p:cNvSpPr>
          <p:nvPr/>
        </p:nvSpPr>
        <p:spPr>
          <a:xfrm xmlns:a="http://schemas.openxmlformats.org/drawingml/2006/main">
            <a:off x="92964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marL="0" algn="r">
              <a:buNone/>
              <a:defRPr sz="1200">
                <a:solidFill>
                  <a:schemeClr val="tx1">
                    <a:tint val="75000"/>
                  </a:schemeClr>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a:lstStyle>
          <a:p xmlns:a="http://schemas.openxmlformats.org/drawingml/2006/main">
            <a:fld id="{44A9A2A8-896A-4908-99A1-F33C2133E199}" type="slidenum">
              <a:rPr>
                <a:solidFill>
                  <a:schemeClr val="bg1"/>
                </a:solidFill>
              </a:rPr>
              <a:t>‹#›</a:t>
            </a:fld>
          </a:p>
        </p:txBody>
      </p:sp>
      <p:sp>
        <p:nvSpPr>
          <p:cNvPr id="12" name="TextBox 11">
            <a:extLst xmlns:a="http://schemas.openxmlformats.org/drawingml/2006/main">
              <a:ext uri="{FF2B5EF4-FFF2-40B4-BE49-F238E27FC236}">
                <a16:creationId xmlns:a16="http://schemas.microsoft.com/office/drawing/2014/main" id="{2D2460D0-200A-937A-8A2A-B7A97F2A8D23}"/>
              </a:ext>
            </a:extLst>
          </p:cNvPr>
          <p:cNvSpPr>
            <a:spLocks xmlns:a="http://schemas.openxmlformats.org/drawingml/2006/main" noGrp="1"/>
          </p:cNvSpPr>
          <p:nvPr/>
        </p:nvSpPr>
        <p:spPr>
          <a:xfrm xmlns:a="http://schemas.openxmlformats.org/drawingml/2006/main">
            <a:off x="297543" y="217714"/>
            <a:ext cx="3855358"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a:solidFill>
                  <a:schemeClr val="bg1">
                    <a:lumMod val="50000"/>
                  </a:schemeClr>
                </a:solidFill>
                <a:latin typeface="UTM Neutra"/>
                <a:ea typeface="UTM Neutra"/>
                <a:cs typeface="UTM Neutra"/>
              </a:rPr>
              <a:t>HƯỚNG DẪN SỬ DỤNG BỘ NHẬN DIỆN</a:t>
            </a:r>
          </a:p>
        </p:txBody>
      </p:sp>
      <p:sp>
        <p:nvSpPr>
          <p:cNvPr id="14" name="Straight Connector 13">
            <a:extLst xmlns:a="http://schemas.openxmlformats.org/drawingml/2006/main">
              <a:ext uri="{FF2B5EF4-FFF2-40B4-BE49-F238E27FC236}">
                <a16:creationId xmlns:a16="http://schemas.microsoft.com/office/drawing/2014/main" id="{C1361D41-16E4-4A22-B8CA-D766B6934341}"/>
              </a:ext>
            </a:extLst>
          </p:cNvPr>
          <p:cNvSpPr>
            <a:spLocks xmlns:a="http://schemas.openxmlformats.org/drawingml/2006/main" noGrp="1"/>
          </p:cNvSpPr>
          <p:nvPr/>
        </p:nvSpPr>
        <p:spPr>
          <a:xfrm xmlns:a="http://schemas.openxmlformats.org/drawingml/2006/main">
            <a:off x="371475" y="494713"/>
            <a:ext cx="2743200" cy="0"/>
          </a:xfrm>
          <a:prstGeom xmlns:a="http://schemas.openxmlformats.org/drawingml/2006/main" prst="line">
            <a:avLst/>
          </a:prstGeom>
          <a:ln xmlns:a="http://schemas.openxmlformats.org/drawingml/2006/main" w="12700"/>
        </p:spPr>
        <p:style>
          <a:lnRef xmlns:a="http://schemas.openxmlformats.org/drawingml/2006/main" idx="1">
            <a:schemeClr val="accent3"/>
          </a:lnRef>
          <a:fillRef xmlns:a="http://schemas.openxmlformats.org/drawingml/2006/main" idx="0">
            <a:schemeClr val="accent3"/>
          </a:fillRef>
          <a:effectRef xmlns:a="http://schemas.openxmlformats.org/drawingml/2006/main" idx="0">
            <a:schemeClr val="accent3"/>
          </a:effectRef>
          <a:fontRef xmlns:a="http://schemas.openxmlformats.org/drawingml/2006/main" idx="minor">
            <a:schemeClr val="tx1"/>
          </a:fontRef>
        </p:style>
      </p:sp>
      <p:sp>
        <p:nvSpPr>
          <p:cNvPr id="16" name="TextBox 15">
            <a:extLst xmlns:a="http://schemas.openxmlformats.org/drawingml/2006/main">
              <a:ext uri="{FF2B5EF4-FFF2-40B4-BE49-F238E27FC236}">
                <a16:creationId xmlns:a16="http://schemas.microsoft.com/office/drawing/2014/main" id="{D2BEE2CC-74A1-111D-2E46-E975A15F4E03}"/>
              </a:ext>
            </a:extLst>
          </p:cNvPr>
          <p:cNvSpPr>
            <a:spLocks xmlns:a="http://schemas.openxmlformats.org/drawingml/2006/main" noGrp="1"/>
          </p:cNvSpPr>
          <p:nvPr/>
        </p:nvSpPr>
        <p:spPr>
          <a:xfrm xmlns:a="http://schemas.openxmlformats.org/drawingml/2006/main">
            <a:off x="3402693" y="217126"/>
            <a:ext cx="3855358"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a:solidFill>
                  <a:srgbClr val="085189"/>
                </a:solidFill>
                <a:latin typeface="UTM Neutra"/>
                <a:ea typeface="UTM Neutra"/>
                <a:cs typeface="UTM Neutra"/>
              </a:rPr>
              <a:t>Quà tặng</a:t>
            </a:r>
          </a:p>
        </p:txBody>
      </p:sp>
      <p:sp>
        <p:nvSpPr>
          <p:cNvPr id="17" name="Straight Connector 16">
            <a:extLst xmlns:a="http://schemas.openxmlformats.org/drawingml/2006/main">
              <a:ext uri="{FF2B5EF4-FFF2-40B4-BE49-F238E27FC236}">
                <a16:creationId xmlns:a16="http://schemas.microsoft.com/office/drawing/2014/main" id="{F648B562-0F31-4248-B24C-284AD1451AE5}"/>
              </a:ext>
            </a:extLst>
          </p:cNvPr>
          <p:cNvSpPr>
            <a:spLocks xmlns:a="http://schemas.openxmlformats.org/drawingml/2006/main" noGrp="1"/>
          </p:cNvSpPr>
          <p:nvPr/>
        </p:nvSpPr>
        <p:spPr>
          <a:xfrm xmlns:a="http://schemas.openxmlformats.org/drawingml/2006/main">
            <a:off x="3476625" y="494125"/>
            <a:ext cx="778852" cy="0"/>
          </a:xfrm>
          <a:prstGeom xmlns:a="http://schemas.openxmlformats.org/drawingml/2006/main" prst="line">
            <a:avLst/>
          </a:prstGeom>
          <a:ln xmlns:a="http://schemas.openxmlformats.org/drawingml/2006/main" w="12700">
            <a:solidFill>
              <a:srgbClr val="085189"/>
            </a:solidFill>
          </a:ln>
        </p:spPr>
        <p:style>
          <a:lnRef xmlns:a="http://schemas.openxmlformats.org/drawingml/2006/main" idx="1">
            <a:schemeClr val="accent3"/>
          </a:lnRef>
          <a:fillRef xmlns:a="http://schemas.openxmlformats.org/drawingml/2006/main" idx="0">
            <a:schemeClr val="accent3"/>
          </a:fillRef>
          <a:effectRef xmlns:a="http://schemas.openxmlformats.org/drawingml/2006/main" idx="0">
            <a:schemeClr val="accent3"/>
          </a:effectRef>
          <a:fontRef xmlns:a="http://schemas.openxmlformats.org/drawingml/2006/main" idx="minor">
            <a:schemeClr val="tx1"/>
          </a:fontRef>
        </p:style>
      </p:sp>
    </p:spTree>
  </p:cSld>
</p:sldLayout>
</file>

<file path=ppt/slideLayouts/slideLayout7.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E464484-B245-9786-96F3-ACCEA902CDA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4BE9F73-0429-1113-2FF0-D37AC808DAB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F3124FBF-32A7-F2F3-76F1-0BAEF05B24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909B663-BDC2-451F-9FFD-E3F973D4142A}" type="datetimeFigureOut">
              <a:t>8/29/2025</a:t>
            </a:fld>
          </a:p>
        </p:txBody>
      </p:sp>
      <p:sp>
        <p:nvSpPr>
          <p:cNvPr id="5" name="Footer Placeholder 4">
            <a:extLst xmlns:a="http://schemas.openxmlformats.org/drawingml/2006/main">
              <a:ext uri="{FF2B5EF4-FFF2-40B4-BE49-F238E27FC236}">
                <a16:creationId xmlns:a16="http://schemas.microsoft.com/office/drawing/2014/main" id="{1E623DC7-77C8-68D3-5521-66F1B89AFD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DD42FC1-5327-03BD-A517-DC428CBF85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A9A2A8-896A-4908-99A1-F33C2133E199}" type="slidenum">
              <a:t>‹#›</a:t>
            </a:fld>
          </a:p>
        </p:txBody>
      </p:sp>
      <p:pic>
        <p:nvPicPr>
          <p:cNvPr id="7" name="Picture 9"/>
          <p:cNvPicPr>
            <a:picLocks xmlns:a="http://schemas.openxmlformats.org/drawingml/2006/main" noChangeAspect="1"/>
          </p:cNvPicPr>
          <p:nvPr/>
        </p:nvPicPr>
        <p:blipFill>
          <a:blip xmlns:r="http://schemas.openxmlformats.org/officeDocument/2006/relationships" xmlns:a="http://schemas.openxmlformats.org/drawingml/2006/main" r:embed="Rf429956e48424e72"/>
          <a:stretch xmlns:a="http://schemas.openxmlformats.org/drawingml/2006/main">
            <a:fillRect l="0" t="0" r="0" b="0"/>
          </a:stretch>
        </p:blipFill>
        <p:spPr>
          <a:xfrm xmlns:a="http://schemas.openxmlformats.org/drawingml/2006/main">
            <a:off x="0" y="0"/>
            <a:ext cx="12200417" cy="6858000"/>
          </a:xfrm>
          <a:prstGeom xmlns:a="http://schemas.openxmlformats.org/drawingml/2006/main" prst="rect">
            <a:avLst/>
          </a:prstGeom>
        </p:spPr>
      </p:pic>
    </p:spTree>
  </p:cSld>
</p:sldLayout>
</file>

<file path=ppt/slideLayouts/slideLayout8.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DE7E74-2157-8156-D04F-4345F804492B}"/>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8B8762B-AC7A-09DA-B823-68098AE1FD33}"/>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FF66B2A-EBD2-4E27-D79A-E6E2B45684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909B663-BDC2-451F-9FFD-E3F973D4142A}" type="datetimeFigureOut">
              <a:t>8/29/2025</a:t>
            </a:fld>
          </a:p>
        </p:txBody>
      </p:sp>
      <p:sp>
        <p:nvSpPr>
          <p:cNvPr id="5" name="Footer Placeholder 4">
            <a:extLst xmlns:a="http://schemas.openxmlformats.org/drawingml/2006/main">
              <a:ext uri="{FF2B5EF4-FFF2-40B4-BE49-F238E27FC236}">
                <a16:creationId xmlns:a16="http://schemas.microsoft.com/office/drawing/2014/main" id="{69A86395-86D3-03C1-3B7F-E37C1BD6AA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0016C12-62D9-196B-F6E4-808B448BB7C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A9A2A8-896A-4908-99A1-F33C2133E199}" type="slidenum">
              <a:t>‹#›</a:t>
            </a:fld>
          </a:p>
        </p:txBody>
      </p:sp>
      <p:pic>
        <p:nvPicPr>
          <p:cNvPr id="7" name="Picture 7"/>
          <p:cNvPicPr>
            <a:picLocks xmlns:a="http://schemas.openxmlformats.org/drawingml/2006/main" noChangeAspect="1"/>
          </p:cNvPicPr>
          <p:nvPr/>
        </p:nvPicPr>
        <p:blipFill rotWithShape="1">
          <a:blip xmlns:r="http://schemas.openxmlformats.org/officeDocument/2006/relationships" xmlns:a="http://schemas.openxmlformats.org/drawingml/2006/main" r:embed="R0d4de475aa764516"/>
          <a:srcRect xmlns:a="http://schemas.openxmlformats.org/drawingml/2006/main" l="693" t="0" r="0" b="11387"/>
          <a:stretch xmlns:a="http://schemas.openxmlformats.org/drawingml/2006/main"/>
        </p:blipFill>
        <p:spPr>
          <a:xfrm xmlns:a="http://schemas.openxmlformats.org/drawingml/2006/main">
            <a:off x="0" y="0"/>
            <a:ext cx="12208745" cy="6857999"/>
          </a:xfrm>
          <a:prstGeom xmlns:a="http://schemas.openxmlformats.org/drawingml/2006/main" prst="rect">
            <a:avLst/>
          </a:prstGeom>
        </p:spPr>
      </p:pic>
      <p:sp>
        <p:nvSpPr>
          <p:cNvPr id="7" name="Slide Number Placeholder 6">
            <a:extLst xmlns:a="http://schemas.openxmlformats.org/drawingml/2006/main">
              <a:ext uri="{FF2B5EF4-FFF2-40B4-BE49-F238E27FC236}">
                <a16:creationId xmlns:a16="http://schemas.microsoft.com/office/drawing/2014/main" id="{4919B322-54B7-818A-16B3-D0BEBF7BBB76}"/>
              </a:ext>
            </a:extLst>
          </p:cNvPr>
          <p:cNvSpPr>
            <a:spLocks xmlns:a="http://schemas.openxmlformats.org/drawingml/2006/main" noGrp="1"/>
          </p:cNvSpPr>
          <p:nvPr/>
        </p:nvSpPr>
        <p:spPr>
          <a:xfrm xmlns:a="http://schemas.openxmlformats.org/drawingml/2006/main">
            <a:off x="8763000" y="65087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marL="0" algn="r">
              <a:buNone/>
              <a:defRPr sz="1200">
                <a:solidFill>
                  <a:schemeClr val="tx1">
                    <a:tint val="75000"/>
                  </a:schemeClr>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a:lstStyle>
          <a:p xmlns:a="http://schemas.openxmlformats.org/drawingml/2006/main">
            <a:fld id="{44A9A2A8-896A-4908-99A1-F33C2133E199}" type="slidenum">
              <a:t>‹#›</a:t>
            </a:fld>
          </a:p>
        </p:txBody>
      </p:sp>
    </p:spTree>
  </p:cSld>
</p:sldLayout>
</file>

<file path=ppt/slideLayouts/slideLayout9.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E43FD51-9557-5B71-222D-1EE865B9A20F}"/>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7483093-D493-DBD1-689A-0AFC949EA33B}"/>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9053BEB4-4BA4-2960-22AC-0D3DAB8A83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909B663-BDC2-451F-9FFD-E3F973D4142A}" type="datetimeFigureOut">
              <a:t>8/29/2025</a:t>
            </a:fld>
          </a:p>
        </p:txBody>
      </p:sp>
      <p:sp>
        <p:nvSpPr>
          <p:cNvPr id="5" name="Footer Placeholder 4">
            <a:extLst xmlns:a="http://schemas.openxmlformats.org/drawingml/2006/main">
              <a:ext uri="{FF2B5EF4-FFF2-40B4-BE49-F238E27FC236}">
                <a16:creationId xmlns:a16="http://schemas.microsoft.com/office/drawing/2014/main" id="{76C07CD8-5FDF-F57C-8028-DF6EFC3DE45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E6875602-A385-B1CF-A625-E09A8A6EA5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A9A2A8-896A-4908-99A1-F33C2133E199}" type="slidenum">
              <a:t>‹#›</a:t>
            </a:fld>
          </a:p>
        </p:txBody>
      </p:sp>
    </p:spTree>
  </p:cSld>
</p:sldLayout>
</file>

<file path=ppt/slideLayouts/slideLayout10.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AC0C4C-2721-EF8A-87FA-DF3697AF107E}"/>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D7E65CAC-470F-FB10-EF9B-ADF4CBA29D8B}"/>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8BEDB4B1-4694-9F7D-7268-75C4EA5B9A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8E83637-48B6-A043-8832-174EC4489555}" type="datetimeFigureOut">
              <a:t>08/29/2025</a:t>
            </a:fld>
          </a:p>
        </p:txBody>
      </p:sp>
      <p:sp>
        <p:nvSpPr>
          <p:cNvPr id="5" name="Footer Placeholder 4">
            <a:extLst xmlns:a="http://schemas.openxmlformats.org/drawingml/2006/main">
              <a:ext uri="{FF2B5EF4-FFF2-40B4-BE49-F238E27FC236}">
                <a16:creationId xmlns:a16="http://schemas.microsoft.com/office/drawing/2014/main" id="{9D25EB09-A3C3-F1A5-F128-F88BEDF1A2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7027631-79B9-BB38-EBE9-542AEA474B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346AC3-7438-9240-8346-AC58A05A36AC}" type="slidenum">
              <a:t>‹#›</a:t>
            </a:fld>
          </a:p>
        </p:txBody>
      </p:sp>
    </p:spTree>
  </p:cSld>
</p:sldLayout>
</file>

<file path=ppt/slideLayouts/slideLayout11.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0FFC69-B0B5-8B6C-BC84-819A3A4546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2F262DA-1FEC-4310-5E46-1B04C326D71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0906CCD9-EE5B-D53A-6B43-C9729A7058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8E83637-48B6-A043-8832-174EC4489555}" type="datetimeFigureOut">
              <a:t>08/29/2025</a:t>
            </a:fld>
          </a:p>
        </p:txBody>
      </p:sp>
      <p:sp>
        <p:nvSpPr>
          <p:cNvPr id="5" name="Footer Placeholder 4">
            <a:extLst xmlns:a="http://schemas.openxmlformats.org/drawingml/2006/main">
              <a:ext uri="{FF2B5EF4-FFF2-40B4-BE49-F238E27FC236}">
                <a16:creationId xmlns:a16="http://schemas.microsoft.com/office/drawing/2014/main" id="{3684C1D6-16C3-11C2-7E8D-1BCAE3BC47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EADB73A8-DD30-7C39-4428-0096F34893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346AC3-7438-9240-8346-AC58A05A36AC}" type="slidenum">
              <a:t>‹#›</a:t>
            </a:fld>
          </a:p>
        </p:txBody>
      </p:sp>
    </p:spTree>
  </p:cSld>
</p:sldLayout>
</file>

<file path=ppt/slideLayouts/slideLayout12.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46F02E-2A60-075B-EE80-529C57F98CDB}"/>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C3FBD82-7586-2BE7-4634-B656885B844F}"/>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5616D4FD-E0D4-FF72-1D72-DDE7020A2CD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8E83637-48B6-A043-8832-174EC4489555}" type="datetimeFigureOut">
              <a:t>08/29/2025</a:t>
            </a:fld>
          </a:p>
        </p:txBody>
      </p:sp>
      <p:sp>
        <p:nvSpPr>
          <p:cNvPr id="5" name="Footer Placeholder 4">
            <a:extLst xmlns:a="http://schemas.openxmlformats.org/drawingml/2006/main">
              <a:ext uri="{FF2B5EF4-FFF2-40B4-BE49-F238E27FC236}">
                <a16:creationId xmlns:a16="http://schemas.microsoft.com/office/drawing/2014/main" id="{CB7372A2-CDF4-71B7-02E3-EC66216C76F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4C0BD52-32DC-87F3-F017-EDFB77B4D6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346AC3-7438-9240-8346-AC58A05A36AC}" type="slidenum">
              <a:t>‹#›</a:t>
            </a:fld>
          </a:p>
        </p:txBody>
      </p:sp>
    </p:spTree>
  </p:cSld>
</p:sldLayout>
</file>

<file path=ppt/slideLayouts/slideLayout13.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9BCD7C9-251A-681F-FE90-F34ADC8B6DB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0FDF3CD-9CD1-47EA-478D-273375EB517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2930CBA9-C53B-82AF-7BCD-2815CF244E66}"/>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5B996E49-68E5-6D5B-01D2-E2D70F2ABC6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8E83637-48B6-A043-8832-174EC4489555}" type="datetimeFigureOut">
              <a:t>08/29/2025</a:t>
            </a:fld>
          </a:p>
        </p:txBody>
      </p:sp>
      <p:sp>
        <p:nvSpPr>
          <p:cNvPr id="6" name="Footer Placeholder 5">
            <a:extLst xmlns:a="http://schemas.openxmlformats.org/drawingml/2006/main">
              <a:ext uri="{FF2B5EF4-FFF2-40B4-BE49-F238E27FC236}">
                <a16:creationId xmlns:a16="http://schemas.microsoft.com/office/drawing/2014/main" id="{592AF9F3-C662-679D-F399-835AF38B979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CD5EDE3D-A4F3-EB1E-22B4-4117E02517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346AC3-7438-9240-8346-AC58A05A36AC}" type="slidenum">
              <a:t>‹#›</a:t>
            </a:fld>
          </a:p>
        </p:txBody>
      </p:sp>
    </p:spTree>
  </p:cSld>
</p:sldLayout>
</file>

<file path=ppt/slideLayouts/slideLayout14.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D0F3F0-A2D0-43BE-1440-E232FC5D8604}"/>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E7EF7E0-3EA1-4F41-B806-D73ADBD43B4D}"/>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A58570D-AFEB-1AAE-9C9E-975975C97EF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8FF40D04-A956-8A5A-B626-B2B932B32153}"/>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05A8101-3C77-8F81-87DF-36657E3A5775}"/>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291EA63A-D8CF-C7ED-C49D-53AE004C3A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8E83637-48B6-A043-8832-174EC4489555}" type="datetimeFigureOut">
              <a:t>08/29/2025</a:t>
            </a:fld>
          </a:p>
        </p:txBody>
      </p:sp>
      <p:sp>
        <p:nvSpPr>
          <p:cNvPr id="8" name="Footer Placeholder 7">
            <a:extLst xmlns:a="http://schemas.openxmlformats.org/drawingml/2006/main">
              <a:ext uri="{FF2B5EF4-FFF2-40B4-BE49-F238E27FC236}">
                <a16:creationId xmlns:a16="http://schemas.microsoft.com/office/drawing/2014/main" id="{3E73F494-9142-8A94-C1EB-1533392033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11181F19-E634-7695-DE81-1B64A6A3A1F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346AC3-7438-9240-8346-AC58A05A36AC}" type="slidenum">
              <a:t>‹#›</a:t>
            </a:fld>
          </a:p>
        </p:txBody>
      </p:sp>
    </p:spTree>
  </p:cSld>
</p:sldLayout>
</file>

<file path=ppt/slideLayouts/slideLayout15.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871332-A738-0195-0BE7-1564292BCD0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A2B8FC58-5A1E-2BDB-489E-9D8723FA34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8E83637-48B6-A043-8832-174EC4489555}" type="datetimeFigureOut">
              <a:t>08/29/2025</a:t>
            </a:fld>
          </a:p>
        </p:txBody>
      </p:sp>
      <p:sp>
        <p:nvSpPr>
          <p:cNvPr id="4" name="Footer Placeholder 3">
            <a:extLst xmlns:a="http://schemas.openxmlformats.org/drawingml/2006/main">
              <a:ext uri="{FF2B5EF4-FFF2-40B4-BE49-F238E27FC236}">
                <a16:creationId xmlns:a16="http://schemas.microsoft.com/office/drawing/2014/main" id="{098F07EC-41A4-246E-ADD0-D5E0F29ACD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2043DA24-A916-89D0-C915-6FEA840ACD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346AC3-7438-9240-8346-AC58A05A36AC}" type="slidenum">
              <a:t>‹#›</a:t>
            </a:fld>
          </a:p>
        </p:txBody>
      </p:sp>
    </p:spTree>
  </p:cSld>
</p:sldLayout>
</file>

<file path=ppt/slideLayouts/slideLayout16.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171A2AA-D5E8-51EE-3DC1-F806D400B7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8E83637-48B6-A043-8832-174EC4489555}" type="datetimeFigureOut">
              <a:t>08/29/2025</a:t>
            </a:fld>
          </a:p>
        </p:txBody>
      </p:sp>
      <p:sp>
        <p:nvSpPr>
          <p:cNvPr id="3" name="Footer Placeholder 2">
            <a:extLst xmlns:a="http://schemas.openxmlformats.org/drawingml/2006/main">
              <a:ext uri="{FF2B5EF4-FFF2-40B4-BE49-F238E27FC236}">
                <a16:creationId xmlns:a16="http://schemas.microsoft.com/office/drawing/2014/main" id="{66D10BE0-29E0-0DA6-DCD6-A9111C1969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02619D22-205D-E0A3-D8AD-4C22C55EAD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346AC3-7438-9240-8346-AC58A05A36AC}" type="slidenum">
              <a:t>‹#›</a:t>
            </a:fld>
          </a:p>
        </p:txBody>
      </p:sp>
    </p:spTree>
  </p:cSld>
</p:sldLayout>
</file>

<file path=ppt/slideLayouts/slideLayout17.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407BEAE-7329-21A4-6E2B-B246F6022DF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13B01AD-73BE-8BFE-BF3B-7C0AFADD5E69}"/>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45550BD2-3126-4882-EBDC-31345AFB001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ABEA815-0D22-42C9-B3CC-6202DB707A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8E83637-48B6-A043-8832-174EC4489555}" type="datetimeFigureOut">
              <a:t>08/29/2025</a:t>
            </a:fld>
          </a:p>
        </p:txBody>
      </p:sp>
      <p:sp>
        <p:nvSpPr>
          <p:cNvPr id="6" name="Footer Placeholder 5">
            <a:extLst xmlns:a="http://schemas.openxmlformats.org/drawingml/2006/main">
              <a:ext uri="{FF2B5EF4-FFF2-40B4-BE49-F238E27FC236}">
                <a16:creationId xmlns:a16="http://schemas.microsoft.com/office/drawing/2014/main" id="{BA2D32BD-D54E-0425-2411-645F3C8A12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D909C717-4274-9731-E543-C526C17A16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346AC3-7438-9240-8346-AC58A05A36AC}" type="slidenum">
              <a:t>‹#›</a:t>
            </a:fld>
          </a:p>
        </p:txBody>
      </p:sp>
    </p:spTree>
  </p:cSld>
</p:sldLayout>
</file>

<file path=ppt/slideLayouts/slideLayout18.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B3A1E17-C0BA-B98B-C131-02AB417E7982}"/>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25EC6A9F-A3EB-93C4-42C7-63E9363B3311}"/>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73A23D5F-97AD-F85D-95FF-D47522B7C8E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09B80D7-ADD1-3C53-9F2E-EBB92FFB58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8E83637-48B6-A043-8832-174EC4489555}" type="datetimeFigureOut">
              <a:t>08/29/2025</a:t>
            </a:fld>
          </a:p>
        </p:txBody>
      </p:sp>
      <p:sp>
        <p:nvSpPr>
          <p:cNvPr id="6" name="Footer Placeholder 5">
            <a:extLst xmlns:a="http://schemas.openxmlformats.org/drawingml/2006/main">
              <a:ext uri="{FF2B5EF4-FFF2-40B4-BE49-F238E27FC236}">
                <a16:creationId xmlns:a16="http://schemas.microsoft.com/office/drawing/2014/main" id="{9EB58B42-9186-334D-EFF9-B4AA839744C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57CD31C5-65B6-0F87-CD6F-85FDA42D11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346AC3-7438-9240-8346-AC58A05A36AC}" type="slidenum">
              <a:t>‹#›</a:t>
            </a:fld>
          </a:p>
        </p:txBody>
      </p:sp>
    </p:spTree>
  </p:cSld>
</p:sldLayout>
</file>

<file path=ppt/slideLayouts/slideLayout19.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89C922-DFDE-C14F-0F4B-742A1A36202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8C028C8-6F83-8C09-F846-4C3F6386F72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C3B73228-D08F-4EB8-FE17-E285A27A54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8E83637-48B6-A043-8832-174EC4489555}" type="datetimeFigureOut">
              <a:t>08/29/2025</a:t>
            </a:fld>
          </a:p>
        </p:txBody>
      </p:sp>
      <p:sp>
        <p:nvSpPr>
          <p:cNvPr id="5" name="Footer Placeholder 4">
            <a:extLst xmlns:a="http://schemas.openxmlformats.org/drawingml/2006/main">
              <a:ext uri="{FF2B5EF4-FFF2-40B4-BE49-F238E27FC236}">
                <a16:creationId xmlns:a16="http://schemas.microsoft.com/office/drawing/2014/main" id="{CC2E1202-52CC-8C1F-9A8F-2B03A8DD1EE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F2430BFF-703A-130E-8C91-B47C65840C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346AC3-7438-9240-8346-AC58A05A36AC}" type="slidenum">
              <a:t>‹#›</a:t>
            </a:fld>
          </a:p>
        </p:txBody>
      </p:sp>
    </p:spTree>
  </p:cSld>
</p:sldLayout>
</file>

<file path=ppt/slideLayouts/slideLayout20.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E139CBB-B51D-946A-0B42-E45B983D8434}"/>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0BC03C2-E70E-6F1C-072B-618EAE4E3308}"/>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B73F999A-F71C-5FEC-8490-FA19564D9B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8E83637-48B6-A043-8832-174EC4489555}" type="datetimeFigureOut">
              <a:t>08/29/2025</a:t>
            </a:fld>
          </a:p>
        </p:txBody>
      </p:sp>
      <p:sp>
        <p:nvSpPr>
          <p:cNvPr id="5" name="Footer Placeholder 4">
            <a:extLst xmlns:a="http://schemas.openxmlformats.org/drawingml/2006/main">
              <a:ext uri="{FF2B5EF4-FFF2-40B4-BE49-F238E27FC236}">
                <a16:creationId xmlns:a16="http://schemas.microsoft.com/office/drawing/2014/main" id="{B20B2F99-75A3-22E7-186D-36F1198C2C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AFF5AF24-1837-7DF1-C937-2917E6AE48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D346AC3-7438-9240-8346-AC58A05A36AC}"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da09b52e184933" /><Relationship Type="http://schemas.openxmlformats.org/officeDocument/2006/relationships/slideLayout" Target="/ppt/slideLayouts/slideLayout1.xml" Id="R06cfc4345a4545a1" /><Relationship Type="http://schemas.openxmlformats.org/officeDocument/2006/relationships/slideLayout" Target="/ppt/slideLayouts/slideLayout2.xml" Id="R34c1a7f08a564143" /><Relationship Type="http://schemas.openxmlformats.org/officeDocument/2006/relationships/slideLayout" Target="/ppt/slideLayouts/slideLayout3.xml" Id="R69cf8838387a460a" /><Relationship Type="http://schemas.openxmlformats.org/officeDocument/2006/relationships/slideLayout" Target="/ppt/slideLayouts/slideLayout4.xml" Id="Rbbf8e32f923b4f0f" /><Relationship Type="http://schemas.openxmlformats.org/officeDocument/2006/relationships/slideLayout" Target="/ppt/slideLayouts/slideLayout5.xml" Id="R42d3bd4edf374dbd" /><Relationship Type="http://schemas.openxmlformats.org/officeDocument/2006/relationships/slideLayout" Target="/ppt/slideLayouts/slideLayout6.xml" Id="R7320613b690f432e" /><Relationship Type="http://schemas.openxmlformats.org/officeDocument/2006/relationships/slideLayout" Target="/ppt/slideLayouts/slideLayout7.xml" Id="R5760f63cb31e4ea8" /><Relationship Type="http://schemas.openxmlformats.org/officeDocument/2006/relationships/slideLayout" Target="/ppt/slideLayouts/slideLayout8.xml" Id="Re1ad20518c7b4e3a" /><Relationship Type="http://schemas.openxmlformats.org/officeDocument/2006/relationships/slideLayout" Target="/ppt/slideLayouts/slideLayout9.xml" Id="Rb6bd58356abf44de" /></Relationships>
</file>

<file path=ppt/slideMasters/_rels/slideMaster2.xml.rels>&#65279;<?xml version="1.0" encoding="utf-8"?><Relationships xmlns="http://schemas.openxmlformats.org/package/2006/relationships"><Relationship Type="http://schemas.openxmlformats.org/officeDocument/2006/relationships/image" Target="/ppt/media/image.png" Id="Rb9a770640dbe4019" /><Relationship Type="http://schemas.openxmlformats.org/officeDocument/2006/relationships/theme" Target="/ppt/slideMasters/theme/theme3.xml" Id="Raf5d8b861d924c80" /><Relationship Type="http://schemas.openxmlformats.org/officeDocument/2006/relationships/slideLayout" Target="/ppt/slideLayouts/slideLayout10.xml" Id="R871156d96b8d4ce8" /><Relationship Type="http://schemas.openxmlformats.org/officeDocument/2006/relationships/slideLayout" Target="/ppt/slideLayouts/slideLayout11.xml" Id="R834c2fb5cd4f43cb" /><Relationship Type="http://schemas.openxmlformats.org/officeDocument/2006/relationships/slideLayout" Target="/ppt/slideLayouts/slideLayout12.xml" Id="R915297dd286c4974" /><Relationship Type="http://schemas.openxmlformats.org/officeDocument/2006/relationships/slideLayout" Target="/ppt/slideLayouts/slideLayout13.xml" Id="Ra971bf5db4d34629" /><Relationship Type="http://schemas.openxmlformats.org/officeDocument/2006/relationships/slideLayout" Target="/ppt/slideLayouts/slideLayout14.xml" Id="R8242312345964ed9" /><Relationship Type="http://schemas.openxmlformats.org/officeDocument/2006/relationships/slideLayout" Target="/ppt/slideLayouts/slideLayout15.xml" Id="Rcf10b149d9ae4773" /><Relationship Type="http://schemas.openxmlformats.org/officeDocument/2006/relationships/slideLayout" Target="/ppt/slideLayouts/slideLayout16.xml" Id="R4e04a660c17f465c" /><Relationship Type="http://schemas.openxmlformats.org/officeDocument/2006/relationships/slideLayout" Target="/ppt/slideLayouts/slideLayout17.xml" Id="R3a742b8a23cb4e66" /><Relationship Type="http://schemas.openxmlformats.org/officeDocument/2006/relationships/slideLayout" Target="/ppt/slideLayouts/slideLayout18.xml" Id="R3d6aaeeafaae4263" /><Relationship Type="http://schemas.openxmlformats.org/officeDocument/2006/relationships/slideLayout" Target="/ppt/slideLayouts/slideLayout19.xml" Id="Rff89159c71754f16" /><Relationship Type="http://schemas.openxmlformats.org/officeDocument/2006/relationships/slideLayout" Target="/ppt/slideLayouts/slideLayout20.xml" Id="Rf247f14d2e724b5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631AEE7-1745-7095-F664-6B95264B057E}"/>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1A03A21-2772-3828-7AC5-78FFACCBCE5A}"/>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C1873718-709B-4497-A711-65AA029D6016}"/>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6909B663-BDC2-451F-9FFD-E3F973D4142A}" type="datetimeFigureOut">
              <a:t>8/29/2025</a:t>
            </a:fld>
          </a:p>
        </p:txBody>
      </p:sp>
      <p:sp>
        <p:nvSpPr>
          <p:cNvPr id="5" name="Footer Placeholder 4">
            <a:extLst xmlns:a="http://schemas.openxmlformats.org/drawingml/2006/main">
              <a:ext uri="{FF2B5EF4-FFF2-40B4-BE49-F238E27FC236}">
                <a16:creationId xmlns:a16="http://schemas.microsoft.com/office/drawing/2014/main" id="{93290932-8E1F-6DBB-5A0C-DF2410DABEA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167DC62-3F95-5ACD-3C31-558A19C8C556}"/>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44A9A2A8-896A-4908-99A1-F33C2133E199}"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cfc4345a4545a1"/>
    <p:sldLayoutId xmlns:r="http://schemas.openxmlformats.org/officeDocument/2006/relationships" id="2147483650" r:id="R34c1a7f08a564143"/>
    <p:sldLayoutId xmlns:r="http://schemas.openxmlformats.org/officeDocument/2006/relationships" id="2147483651" r:id="R69cf8838387a460a"/>
    <p:sldLayoutId xmlns:r="http://schemas.openxmlformats.org/officeDocument/2006/relationships" id="2147483652" r:id="Rbbf8e32f923b4f0f"/>
    <p:sldLayoutId xmlns:r="http://schemas.openxmlformats.org/officeDocument/2006/relationships" id="2147483653" r:id="R42d3bd4edf374dbd"/>
    <p:sldLayoutId xmlns:r="http://schemas.openxmlformats.org/officeDocument/2006/relationships" id="2147483654" r:id="R7320613b690f432e"/>
    <p:sldLayoutId xmlns:r="http://schemas.openxmlformats.org/officeDocument/2006/relationships" id="2147483655" r:id="R5760f63cb31e4ea8"/>
    <p:sldLayoutId xmlns:r="http://schemas.openxmlformats.org/officeDocument/2006/relationships" id="2147483656" r:id="Re1ad20518c7b4e3a"/>
    <p:sldLayoutId xmlns:r="http://schemas.openxmlformats.org/officeDocument/2006/relationships" id="2147483657" r:id="Rb6bd58356abf44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1C7EEC1-4213-8FCF-3A7A-908258F09C2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5B1D829-DE05-9850-6373-B3F86F885489}"/>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C2E005DE-8349-AD99-ED16-5AFD4E61F53D}"/>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A8E83637-48B6-A043-8832-174EC4489555}" type="datetimeFigureOut">
              <a:t>08/29/2025</a:t>
            </a:fld>
          </a:p>
        </p:txBody>
      </p:sp>
      <p:sp>
        <p:nvSpPr>
          <p:cNvPr id="5" name="Footer Placeholder 4">
            <a:extLst xmlns:a="http://schemas.openxmlformats.org/drawingml/2006/main">
              <a:ext uri="{FF2B5EF4-FFF2-40B4-BE49-F238E27FC236}">
                <a16:creationId xmlns:a16="http://schemas.microsoft.com/office/drawing/2014/main" id="{43E5248B-C816-9A17-B3A8-FF9BC75DDB09}"/>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63AD0FF6-0F0C-669D-25BE-9D651C0A38B1}"/>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D346AC3-7438-9240-8346-AC58A05A36AC}" type="slidenum">
              <a:t>‹#›</a:t>
            </a:fld>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b9a770640dbe4019"/>
          <a:stretch xmlns:a="http://schemas.openxmlformats.org/drawingml/2006/main">
            <a:fillRect l="0" t="0" r="0" b="0"/>
          </a:stretch>
        </p:blipFill>
        <p:spPr>
          <a:xfrm xmlns:a="http://schemas.openxmlformats.org/drawingml/2006/main">
            <a:off x="0" y="0"/>
            <a:ext cx="12191851" cy="6858084"/>
          </a:xfrm>
          <a:prstGeom xmlns:a="http://schemas.openxmlformats.org/drawingml/2006/main" prst="rect">
            <a:avLst/>
          </a:prstGeom>
        </p:spPr>
      </p:pic>
      <p:sp>
        <p:nvSpPr>
          <p:cNvPr id="8" name="Slide Number Placeholder 5">
            <a:extLst xmlns:a="http://schemas.openxmlformats.org/drawingml/2006/main">
              <a:ext uri="{FF2B5EF4-FFF2-40B4-BE49-F238E27FC236}">
                <a16:creationId xmlns:a16="http://schemas.microsoft.com/office/drawing/2014/main" id="{713A4733-A858-7A28-2A27-78134C3F356D}"/>
              </a:ext>
            </a:extLst>
          </p:cNvPr>
          <p:cNvSpPr>
            <a:spLocks xmlns:a="http://schemas.openxmlformats.org/drawingml/2006/main" noGrp="1"/>
          </p:cNvSpPr>
          <p:nvPr/>
        </p:nvSpPr>
        <p:spPr>
          <a:xfrm xmlns:a="http://schemas.openxmlformats.org/drawingml/2006/main">
            <a:off x="4724325" y="6400090"/>
            <a:ext cx="2743200" cy="365125"/>
          </a:xfrm>
          <a:prstGeom xmlns:a="http://schemas.openxmlformats.org/drawingml/2006/main" prst="rect">
            <a:avLst/>
          </a:prstGeom>
        </p:spPr>
        <p:txBody>
          <a:bodyPr xmlns:a="http://schemas.openxmlformats.org/drawingml/2006/main"/>
          <a:lstStyle xmlns:a="http://schemas.openxmlformats.org/drawingml/2006/main">
            <a:lvl1pPr marL="0" algn="ctr">
              <a:buNone/>
              <a:defRPr sz="1800">
                <a:solidFill>
                  <a:schemeClr val="bg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a:lstStyle>
          <a:p xmlns:a="http://schemas.openxmlformats.org/drawingml/2006/main">
            <a:fld id="{44A9A2A8-896A-4908-99A1-F33C2133E199}"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9" r:id="R871156d96b8d4ce8"/>
    <p:sldLayoutId xmlns:r="http://schemas.openxmlformats.org/officeDocument/2006/relationships" id="2147483660" r:id="R834c2fb5cd4f43cb"/>
    <p:sldLayoutId xmlns:r="http://schemas.openxmlformats.org/officeDocument/2006/relationships" id="2147483661" r:id="R915297dd286c4974"/>
    <p:sldLayoutId xmlns:r="http://schemas.openxmlformats.org/officeDocument/2006/relationships" id="2147483662" r:id="Ra971bf5db4d34629"/>
    <p:sldLayoutId xmlns:r="http://schemas.openxmlformats.org/officeDocument/2006/relationships" id="2147483663" r:id="R8242312345964ed9"/>
    <p:sldLayoutId xmlns:r="http://schemas.openxmlformats.org/officeDocument/2006/relationships" id="2147483664" r:id="Rcf10b149d9ae4773"/>
    <p:sldLayoutId xmlns:r="http://schemas.openxmlformats.org/officeDocument/2006/relationships" id="2147483665" r:id="R4e04a660c17f465c"/>
    <p:sldLayoutId xmlns:r="http://schemas.openxmlformats.org/officeDocument/2006/relationships" id="2147483666" r:id="R3a742b8a23cb4e66"/>
    <p:sldLayoutId xmlns:r="http://schemas.openxmlformats.org/officeDocument/2006/relationships" id="2147483667" r:id="R3d6aaeeafaae4263"/>
    <p:sldLayoutId xmlns:r="http://schemas.openxmlformats.org/officeDocument/2006/relationships" id="2147483668" r:id="Rff89159c71754f16"/>
    <p:sldLayoutId xmlns:r="http://schemas.openxmlformats.org/officeDocument/2006/relationships" id="2147483669" r:id="Rf247f14d2e724b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7f05b44ec44885" /><Relationship Type="http://schemas.openxmlformats.org/officeDocument/2006/relationships/notesSlide" Target="/ppt/notesSlides/notesSlide1.xml" Id="R4b634b24dabe4b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0.xml" Id="R9788a55bafaf4c83" /><Relationship Type="http://schemas.openxmlformats.org/officeDocument/2006/relationships/notesSlide" Target="/ppt/notesSlides/notesSlide2.xml" Id="Rad24df157e8f4e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f716c7afa8434cb1" /><Relationship Type="http://schemas.openxmlformats.org/officeDocument/2006/relationships/notesSlide" Target="/ppt/notesSlides/notesSlide3.xml" Id="R959aa2d995fe4e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5572ee748a4d4e16" /><Relationship Type="http://schemas.openxmlformats.org/officeDocument/2006/relationships/notesSlide" Target="/ppt/notesSlides/notesSlide4.xml" Id="Rc9b4ceec1b0347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471662ee4ded4fa8" /><Relationship Type="http://schemas.openxmlformats.org/officeDocument/2006/relationships/notesSlide" Target="/ppt/notesSlides/notesSlide5.xml" Id="R263bb25eb16848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0.xml" Id="R6fd6a30fef764e10" /><Relationship Type="http://schemas.openxmlformats.org/officeDocument/2006/relationships/notesSlide" Target="/ppt/notesSlides/notesSlide6.xml" Id="Ra9bba72aa7eb4d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0.xml" Id="R4b69f6aac9b346a0" /><Relationship Type="http://schemas.openxmlformats.org/officeDocument/2006/relationships/notesSlide" Target="/ppt/notesSlides/notesSlide7.xml" Id="Rfcabea74edfe4d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c25079ee5282491b" /><Relationship Type="http://schemas.openxmlformats.org/officeDocument/2006/relationships/notesSlide" Target="/ppt/notesSlides/notesSlide8.xml" Id="R4c1aadcedc1344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8261d8932ca74aa9" /><Relationship Type="http://schemas.openxmlformats.org/officeDocument/2006/relationships/notesSlide" Target="/ppt/notesSlides/notesSlide9.xml" Id="Rabfc6341ab2642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0.xml" Id="Rc7043458a0b746f9" /><Relationship Type="http://schemas.openxmlformats.org/officeDocument/2006/relationships/notesSlide" Target="/ppt/notesSlides/notesSlide10.xml" Id="Reb60fb882ad644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0.xml" Id="R3aa1cce0fe7e4eab" /><Relationship Type="http://schemas.openxmlformats.org/officeDocument/2006/relationships/notesSlide" Target="/ppt/notesSlides/notesSlide11.xml" Id="R4fb00bed0f3c47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abc0bf90debb4a9c" /><Relationship Type="http://schemas.openxmlformats.org/officeDocument/2006/relationships/image" Target="/ppt/media/image8.png" Id="R90f18757f7bb401b" /><Relationship Type="http://schemas.openxmlformats.org/officeDocument/2006/relationships/notesSlide" Target="/ppt/notesSlides/notesSlide12.xml" Id="R57e4d6ff5bf04d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390a6740205f4090" /><Relationship Type="http://schemas.openxmlformats.org/officeDocument/2006/relationships/notesSlide" Target="/ppt/notesSlides/notesSlide13.xml" Id="R25e0df8b3cb044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0.xml" Id="R94128bd2228e482b" /><Relationship Type="http://schemas.openxmlformats.org/officeDocument/2006/relationships/notesSlide" Target="/ppt/notesSlides/notesSlide14.xml" Id="R82f7e7c1cb784b1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3b38da00bbfa4b82" /><Relationship Type="http://schemas.openxmlformats.org/officeDocument/2006/relationships/notesSlide" Target="/ppt/notesSlides/notesSlide15.xml" Id="R252d36968f9c4d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0.xml" Id="R1d40b17b31bc46f6" /><Relationship Type="http://schemas.openxmlformats.org/officeDocument/2006/relationships/notesSlide" Target="/ppt/notesSlides/notesSlide16.xml" Id="Rf077fd2fccf8408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0.xml" Id="R1070ad65f3f94b50" /><Relationship Type="http://schemas.openxmlformats.org/officeDocument/2006/relationships/notesSlide" Target="/ppt/notesSlides/notesSlide17.xml" Id="R7f9494c3661b44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4.xml" Id="R85903e9ffe2746bb" /><Relationship Type="http://schemas.openxmlformats.org/officeDocument/2006/relationships/notesSlide" Target="/ppt/notesSlides/notesSlide18.xml" Id="Rbda3ced0934c4e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4.xml" Id="R92de4af33c24438f" /><Relationship Type="http://schemas.openxmlformats.org/officeDocument/2006/relationships/notesSlide" Target="/ppt/notesSlides/notesSlide19.xml" Id="Ra7b35af492d24a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0.xml" Id="Ra055847d501b4482" /><Relationship Type="http://schemas.openxmlformats.org/officeDocument/2006/relationships/notesSlide" Target="/ppt/notesSlides/notesSlide20.xml" Id="Rb4b0b5c065ae46a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1d2e9bfd3ab848c7" /><Relationship Type="http://schemas.openxmlformats.org/officeDocument/2006/relationships/notesSlide" Target="/ppt/notesSlides/notesSlide21.xml" Id="R7cc828f8a8f1487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0.xml" Id="R2126662f7cb7499b" /><Relationship Type="http://schemas.openxmlformats.org/officeDocument/2006/relationships/notesSlide" Target="/ppt/notesSlides/notesSlide22.xml" Id="Rfdea9e6ac10b4e2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1.xml" Id="R09b32a39229a452d" /><Relationship Type="http://schemas.openxmlformats.org/officeDocument/2006/relationships/image" Target="/ppt/media/image9.png" Id="R1d2e0fe6afe840a2" /><Relationship Type="http://schemas.openxmlformats.org/officeDocument/2006/relationships/notesSlide" Target="/ppt/notesSlides/notesSlide23.xml" Id="Rb34eaab770f1461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0.xml" Id="R8399ec4c2fa3447d" /><Relationship Type="http://schemas.openxmlformats.org/officeDocument/2006/relationships/notesSlide" Target="/ppt/notesSlides/notesSlide24.xml" Id="Rbafe7660341d408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0.xml" Id="R9633334767a84505" /><Relationship Type="http://schemas.openxmlformats.org/officeDocument/2006/relationships/notesSlide" Target="/ppt/notesSlides/notesSlide25.xml" Id="R39c5fe56f0994b0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2ffbe17c34514992" /><Relationship Type="http://schemas.openxmlformats.org/officeDocument/2006/relationships/notesSlide" Target="/ppt/notesSlides/notesSlide26.xml" Id="R48f1206998764c1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0.xml" Id="R74868b5dc0184b2d" /><Relationship Type="http://schemas.openxmlformats.org/officeDocument/2006/relationships/notesSlide" Target="/ppt/notesSlides/notesSlide27.xml" Id="R6ccface22f70424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0.xml" Id="Rc13f437d6b3d4a1a" /><Relationship Type="http://schemas.openxmlformats.org/officeDocument/2006/relationships/notesSlide" Target="/ppt/notesSlides/notesSlide28.xml" Id="R7d184a7b26ed411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0.xml" Id="Re60aeb4513ad4e48" /><Relationship Type="http://schemas.openxmlformats.org/officeDocument/2006/relationships/notesSlide" Target="/ppt/notesSlides/notesSlide29.xml" Id="R9b1ce32a8b26430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db7c6979b76d40f2" /><Relationship Type="http://schemas.openxmlformats.org/officeDocument/2006/relationships/notesSlide" Target="/ppt/notesSlides/notesSlide30.xml" Id="Red9cc229290b461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89F82E83-E938-C1B8-96ED-164E2023AA3A}"/>
              </a:ext>
            </a:extLst>
          </p:cNvPr>
          <p:cNvSpPr>
            <a:spLocks xmlns:a="http://schemas.openxmlformats.org/drawingml/2006/main" noGrp="1"/>
          </p:cNvSpPr>
          <p:nvPr/>
        </p:nvSpPr>
        <p:spPr>
          <a:xfrm xmlns:a="http://schemas.openxmlformats.org/drawingml/2006/main">
            <a:off x="3841583" y="1807056"/>
            <a:ext cx="7901238" cy="20005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l">
              <a:lnSpc>
                <a:spcPct val="100000"/>
              </a:lnSpc>
              <a:spcBef>
                <a:spcPts val="0"/>
              </a:spcBef>
              <a:spcAft>
                <a:spcPts val="0"/>
              </a:spcAft>
              <a:buNone/>
            </a:pPr>
            <a:r>
              <a:rPr sz="3600" b="1" i="0" u="none" cap="none">
                <a:ln>
                  <a:noFill/>
                </a:ln>
                <a:solidFill>
                  <a:prstClr val="white"/>
                </a:solidFill>
                <a:latin typeface="UTM Neutra"/>
                <a:ea typeface="UTM Neutra"/>
                <a:cs typeface="UTM Neutra"/>
              </a:rPr>
              <a:t>Đề tài</a:t>
            </a:r>
          </a:p>
          <a:p xmlns:a="http://schemas.openxmlformats.org/drawingml/2006/main">
            <a:pPr marL="0" indent="0" algn="l">
              <a:lnSpc>
                <a:spcPct val="100000"/>
              </a:lnSpc>
              <a:spcBef>
                <a:spcPts val="0"/>
              </a:spcBef>
              <a:spcAft>
                <a:spcPts val="0"/>
              </a:spcAft>
              <a:buNone/>
            </a:pPr>
            <a:r>
              <a:rPr sz="4400" b="1" i="0" u="none" cap="none">
                <a:ln>
                  <a:noFill/>
                </a:ln>
                <a:solidFill>
                  <a:srgbClr val="FDDF08"/>
                </a:solidFill>
                <a:latin typeface="UTM Neutra"/>
                <a:ea typeface="UTM Neutra"/>
                <a:cs typeface="UTM Neutra"/>
              </a:rPr>
              <a:t>Plant Disease Detector</a:t>
            </a:r>
          </a:p>
        </p:txBody>
      </p:sp>
      <p:sp>
        <p:nvSpPr>
          <p:cNvPr id="5" name="TextBox 4">
            <a:extLst xmlns:a="http://schemas.openxmlformats.org/drawingml/2006/main">
              <a:ext uri="{FF2B5EF4-FFF2-40B4-BE49-F238E27FC236}">
                <a16:creationId xmlns:a16="http://schemas.microsoft.com/office/drawing/2014/main" id="{04C57B79-F982-05E7-B239-77BCD5416D65}"/>
              </a:ext>
            </a:extLst>
          </p:cNvPr>
          <p:cNvSpPr>
            <a:spLocks xmlns:a="http://schemas.openxmlformats.org/drawingml/2006/main" noGrp="1"/>
          </p:cNvSpPr>
          <p:nvPr/>
        </p:nvSpPr>
        <p:spPr>
          <a:xfrm xmlns:a="http://schemas.openxmlformats.org/drawingml/2006/main">
            <a:off x="3841583" y="4016857"/>
            <a:ext cx="7749782" cy="17543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l">
              <a:lnSpc>
                <a:spcPct val="100000"/>
              </a:lnSpc>
              <a:spcBef>
                <a:spcPts val="0"/>
              </a:spcBef>
              <a:spcAft>
                <a:spcPts val="0"/>
              </a:spcAft>
              <a:buNone/>
            </a:pPr>
            <a:r>
              <a:rPr sz="2400" b="1">
                <a:solidFill>
                  <a:prstClr val="white"/>
                </a:solidFill>
                <a:latin typeface="UTM Neutra"/>
                <a:ea typeface="UTM Neutra"/>
                <a:cs typeface="UTM Neutra"/>
              </a:rPr>
              <a:t>AI phát hiện bệnh cây qua ảnh lá</a:t>
            </a:r>
          </a:p>
          <a:p xmlns:a="http://schemas.openxmlformats.org/drawingml/2006/main">
            <a:pPr marL="0" indent="0" algn="l">
              <a:lnSpc>
                <a:spcPct val="100000"/>
              </a:lnSpc>
              <a:spcBef>
                <a:spcPts val="0"/>
              </a:spcBef>
              <a:spcAft>
                <a:spcPts val="0"/>
              </a:spcAft>
              <a:buNone/>
            </a:pPr>
            <a:r>
              <a:rPr sz="2400" b="1" i="0" u="none" cap="none">
                <a:ln>
                  <a:noFill/>
                </a:ln>
                <a:solidFill>
                  <a:prstClr val="white"/>
                </a:solidFill>
                <a:latin typeface="UTM Neutra"/>
                <a:ea typeface="UTM Neutra"/>
                <a:cs typeface="UTM Neutra"/>
              </a:rPr>
              <a:t>SVTH: HUỲNH KHÔI NGUYÊN</a:t>
            </a:r>
          </a:p>
          <a:p xmlns:a="http://schemas.openxmlformats.org/drawingml/2006/main">
            <a:pPr marL="0" indent="0" algn="l">
              <a:lnSpc>
                <a:spcPct val="100000"/>
              </a:lnSpc>
              <a:spcBef>
                <a:spcPts val="0"/>
              </a:spcBef>
              <a:spcAft>
                <a:spcPts val="0"/>
              </a:spcAft>
              <a:buNone/>
            </a:pPr>
            <a:r>
              <a:t>Lớp: 22T_Nhat1 | MSSV: 102220287</a:t>
            </a:r>
          </a:p>
          <a:p xmlns:a="http://schemas.openxmlformats.org/drawingml/2006/main">
            <a:pPr marL="0" indent="0" algn="l">
              <a:lnSpc>
                <a:spcPct val="100000"/>
              </a:lnSpc>
              <a:spcBef>
                <a:spcPts val="0"/>
              </a:spcBef>
              <a:spcAft>
                <a:spcPts val="0"/>
              </a:spcAft>
              <a:buNone/>
            </a:pPr>
            <a:r>
              <a:t>GVHD: ThS. Đỗ Thị Tuyết Hoa</a:t>
            </a:r>
          </a:p>
        </p:txBody>
      </p:sp>
    </p:spTree>
    <p:extLst>
      <p:ext uri="{BB962C8B-B14F-4D97-AF65-F5344CB8AC3E}">
        <p14:creationId xmlns:p14="http://schemas.microsoft.com/office/powerpoint/2010/main" val="162378981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MỤC LỤC</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Tổng quan đề tài</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Phân tích &amp; thiết kế</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Dữ liệu &amp; mô hình AI</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Huấn luyện &amp; đánh giá</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Triển khai thực tế</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Kết luận &amp; Q&amp;A</a:t>
            </a:r>
          </a:p>
        </p:txBody>
      </p:sp>
    </p:spTree>
    <p:extLst>
      <p:ext uri="{BB962C8B-B14F-4D97-AF65-F5344CB8AC3E}">
        <p14:creationId xmlns:p14="http://schemas.microsoft.com/office/powerpoint/2010/main" val="3738855431"/>
      </p:ext>
    </p:extLst>
  </p:cSld>
</p:sld>
</file>

<file path=ppt/slides/slide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6439DB71-B88B-13E6-20C9-D445279D6565}"/>
              </a:ext>
            </a:extLst>
          </p:cNvPr>
          <p:cNvSpPr>
            <a:spLocks xmlns:a="http://schemas.openxmlformats.org/drawingml/2006/main" noGrp="1"/>
          </p:cNvSpPr>
          <p:nvPr/>
        </p:nvSpPr>
        <p:spPr>
          <a:xfrm xmlns:a="http://schemas.openxmlformats.org/drawingml/2006/main">
            <a:off x="1474901" y="2363900"/>
            <a:ext cx="4813604" cy="4572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l">
              <a:lnSpc>
                <a:spcPct val="100000"/>
              </a:lnSpc>
              <a:spcBef>
                <a:spcPts val="0"/>
              </a:spcBef>
              <a:spcAft>
                <a:spcPts val="0"/>
              </a:spcAft>
              <a:buNone/>
            </a:pPr>
            <a:r>
              <a:rPr sz="3600" b="1" i="0" u="none" cap="none">
                <a:ln>
                  <a:noFill/>
                </a:ln>
                <a:solidFill>
                  <a:prstClr val="white"/>
                </a:solidFill>
                <a:latin typeface="UTM Neutra"/>
                <a:ea typeface="UTM Neutra"/>
                <a:cs typeface="UTM Neutra"/>
              </a:rPr>
              <a:t>PHẦN 1</a:t>
            </a:r>
          </a:p>
          <a:p xmlns:a="http://schemas.openxmlformats.org/drawingml/2006/main">
            <a:pPr marL="0" indent="0" algn="l">
              <a:lnSpc>
                <a:spcPct val="100000"/>
              </a:lnSpc>
              <a:spcBef>
                <a:spcPts val="0"/>
              </a:spcBef>
              <a:spcAft>
                <a:spcPts val="0"/>
              </a:spcAft>
              <a:buNone/>
            </a:pPr>
            <a:r>
              <a:rPr sz="8000" b="1">
                <a:solidFill>
                  <a:srgbClr val="FFF106"/>
                </a:solidFill>
                <a:latin typeface="UTM Neutra"/>
                <a:ea typeface="UTM Neutra"/>
                <a:cs typeface="UTM Neutra"/>
              </a:rPr>
              <a:t>Tổng quan đề tài</a:t>
            </a:r>
          </a:p>
        </p:txBody>
      </p:sp>
      <p:sp>
        <p:nvSpPr>
          <p:cNvPr id="2" name="Rectangle 1">
            <a:extLst xmlns:a="http://schemas.openxmlformats.org/drawingml/2006/main">
              <a:ext uri="{FF2B5EF4-FFF2-40B4-BE49-F238E27FC236}">
                <a16:creationId xmlns:a16="http://schemas.microsoft.com/office/drawing/2014/main" id="{9F1140A8-0DEA-4459-9D47-7031037DBACB}"/>
              </a:ext>
            </a:extLst>
          </p:cNvPr>
          <p:cNvSpPr>
            <a:spLocks xmlns:a="http://schemas.openxmlformats.org/drawingml/2006/main" noGrp="1"/>
          </p:cNvSpPr>
          <p:nvPr/>
        </p:nvSpPr>
        <p:spPr>
          <a:xfrm xmlns:a="http://schemas.openxmlformats.org/drawingml/2006/main">
            <a:off x="6288505" y="2176697"/>
            <a:ext cx="51215" cy="3164560"/>
          </a:xfrm>
          <a:prstGeom xmlns:a="http://schemas.openxmlformats.org/drawingml/2006/main" prst="rect">
            <a:avLst/>
          </a:prstGeom>
          <a:solidFill xmlns:a="http://schemas.openxmlformats.org/drawingml/2006/main">
            <a:srgbClr val="FFF106"/>
          </a:solidFill>
          <a:ln xmlns:a="http://schemas.openxmlformats.org/drawingml/2006/main">
            <a:solidFill>
              <a:srgbClr val="085189"/>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p>
        </p:txBody>
      </p:sp>
    </p:spTree>
    <p:extLst>
      <p:ext uri="{BB962C8B-B14F-4D97-AF65-F5344CB8AC3E}">
        <p14:creationId xmlns:p14="http://schemas.microsoft.com/office/powerpoint/2010/main" val="136326957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1" name="AutoShape 336">
            <a:extLst xmlns:a="http://schemas.openxmlformats.org/drawingml/2006/main">
              <a:ext uri="{FF2B5EF4-FFF2-40B4-BE49-F238E27FC236}">
                <a16:creationId xmlns:a16="http://schemas.microsoft.com/office/drawing/2014/main" id="{54AB9E5F-CCAA-459D-B5F3-A2642BBC329C}"/>
              </a:ext>
            </a:extLst>
          </p:cNvPr>
          <p:cNvSpPr>
            <a:spLocks xmlns:a="http://schemas.openxmlformats.org/drawingml/2006/main" noGrp="1"/>
          </p:cNvSpPr>
          <p:nvPr/>
        </p:nvSpPr>
        <p:spPr>
          <a:xfrm xmlns:a="http://schemas.openxmlformats.org/drawingml/2006/main">
            <a:off x="1507371" y="1458166"/>
            <a:ext cx="875883" cy="432048"/>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Vấn đề</a:t>
            </a:r>
          </a:p>
        </p:txBody>
      </p:sp>
      <p:sp>
        <p:nvSpPr>
          <p:cNvPr id="52" name="AutoShape 336">
            <a:extLst xmlns:a="http://schemas.openxmlformats.org/drawingml/2006/main">
              <a:ext uri="{FF2B5EF4-FFF2-40B4-BE49-F238E27FC236}">
                <a16:creationId xmlns:a16="http://schemas.microsoft.com/office/drawing/2014/main" id="{51988613-71FE-4D8B-9E4C-270C3A6CC5E6}"/>
              </a:ext>
            </a:extLst>
          </p:cNvPr>
          <p:cNvSpPr>
            <a:spLocks xmlns:a="http://schemas.openxmlformats.org/drawingml/2006/main" noGrp="1"/>
          </p:cNvSpPr>
          <p:nvPr/>
        </p:nvSpPr>
        <p:spPr>
          <a:xfrm xmlns:a="http://schemas.openxmlformats.org/drawingml/2006/main">
            <a:off x="1501760" y="3731056"/>
            <a:ext cx="863539" cy="432048"/>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Cơ hội</a:t>
            </a:r>
          </a:p>
        </p:txBody>
      </p:sp>
      <p:sp>
        <p:nvSpPr>
          <p:cNvPr id="53" name="AutoShape 336">
            <a:extLst xmlns:a="http://schemas.openxmlformats.org/drawingml/2006/main">
              <a:ext uri="{FF2B5EF4-FFF2-40B4-BE49-F238E27FC236}">
                <a16:creationId xmlns:a16="http://schemas.microsoft.com/office/drawing/2014/main" id="{A1B290CA-9316-4FF9-89C9-51B61F4FCA37}"/>
              </a:ext>
            </a:extLst>
          </p:cNvPr>
          <p:cNvSpPr>
            <a:spLocks xmlns:a="http://schemas.openxmlformats.org/drawingml/2006/main" noGrp="1"/>
          </p:cNvSpPr>
          <p:nvPr/>
        </p:nvSpPr>
        <p:spPr>
          <a:xfrm xmlns:a="http://schemas.openxmlformats.org/drawingml/2006/main">
            <a:off x="1501759" y="2575735"/>
            <a:ext cx="876655" cy="457200"/>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Hạn chế</a:t>
            </a:r>
          </a:p>
        </p:txBody>
      </p:sp>
      <p:sp>
        <p:nvSpPr>
          <p:cNvPr id="2" name="Rectangle 1">
            <a:extLst xmlns:a="http://schemas.openxmlformats.org/drawingml/2006/main">
              <a:ext uri="{FF2B5EF4-FFF2-40B4-BE49-F238E27FC236}">
                <a16:creationId xmlns:a16="http://schemas.microsoft.com/office/drawing/2014/main" id="{445E3A8A-F6E8-4BA5-8548-3D99507BA9E6}"/>
              </a:ext>
            </a:extLst>
          </p:cNvPr>
          <p:cNvSpPr>
            <a:spLocks xmlns:a="http://schemas.openxmlformats.org/drawingml/2006/main" noGrp="1"/>
          </p:cNvSpPr>
          <p:nvPr/>
        </p:nvSpPr>
        <p:spPr>
          <a:xfrm xmlns:a="http://schemas.openxmlformats.org/drawingml/2006/main">
            <a:off x="355107" y="550416"/>
            <a:ext cx="1722268" cy="239697"/>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PHẦN 1: TỔNG QUAN</a:t>
            </a:r>
          </a:p>
        </p:txBody>
      </p:sp>
      <p:sp>
        <p:nvSpPr>
          <p:cNvPr id="7" name="Rectangle 5">
            <a:extLst xmlns:a="http://schemas.openxmlformats.org/drawingml/2006/main">
              <a:ext uri="{FF2B5EF4-FFF2-40B4-BE49-F238E27FC236}">
                <a16:creationId xmlns:a16="http://schemas.microsoft.com/office/drawing/2014/main" id="{7CF60FD3-F338-4BE9-85DB-C98D87E067BF}"/>
              </a:ext>
            </a:extLst>
          </p:cNvPr>
          <p:cNvSpPr>
            <a:spLocks xmlns:a="http://schemas.openxmlformats.org/drawingml/2006/main" noGrp="1"/>
          </p:cNvSpPr>
          <p:nvPr/>
        </p:nvSpPr>
        <p:spPr>
          <a:xfrm xmlns:a="http://schemas.openxmlformats.org/drawingml/2006/main">
            <a:off x="2605315" y="1581857"/>
            <a:ext cx="7239289"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Bệnh cây làm giảm năng suất và chất lượng nông sản nếu phát hiện muộn.</a:t>
            </a:r>
          </a:p>
        </p:txBody>
      </p:sp>
      <p:sp>
        <p:nvSpPr>
          <p:cNvPr id="12" name="Rectangle 10">
            <a:extLst xmlns:a="http://schemas.openxmlformats.org/drawingml/2006/main">
              <a:ext uri="{FF2B5EF4-FFF2-40B4-BE49-F238E27FC236}">
                <a16:creationId xmlns:a16="http://schemas.microsoft.com/office/drawing/2014/main" id="{BE318972-C96A-4C22-84A6-DFC6169B038E}"/>
              </a:ext>
            </a:extLst>
          </p:cNvPr>
          <p:cNvSpPr>
            <a:spLocks xmlns:a="http://schemas.openxmlformats.org/drawingml/2006/main" noGrp="1"/>
          </p:cNvSpPr>
          <p:nvPr/>
        </p:nvSpPr>
        <p:spPr>
          <a:xfrm xmlns:a="http://schemas.openxmlformats.org/drawingml/2006/main">
            <a:off x="2599703" y="2733198"/>
            <a:ext cx="5256247"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Chẩn đoán thủ công phụ thuộc kinh nghiệm, dễ nhầm khi triệu chứng tương tự.</a:t>
            </a:r>
          </a:p>
        </p:txBody>
      </p:sp>
      <p:sp>
        <p:nvSpPr>
          <p:cNvPr id="13" name="Rectangle 11">
            <a:extLst xmlns:a="http://schemas.openxmlformats.org/drawingml/2006/main">
              <a:ext uri="{FF2B5EF4-FFF2-40B4-BE49-F238E27FC236}">
                <a16:creationId xmlns:a16="http://schemas.microsoft.com/office/drawing/2014/main" id="{7D22B5A7-19D1-425A-8788-64BF4DDE3249}"/>
              </a:ext>
            </a:extLst>
          </p:cNvPr>
          <p:cNvSpPr>
            <a:spLocks xmlns:a="http://schemas.openxmlformats.org/drawingml/2006/main" noGrp="1"/>
          </p:cNvSpPr>
          <p:nvPr/>
        </p:nvSpPr>
        <p:spPr>
          <a:xfrm xmlns:a="http://schemas.openxmlformats.org/drawingml/2006/main">
            <a:off x="2599703" y="3836597"/>
            <a:ext cx="5844549"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Camera điện thoại + AI giúp người dùng nhận hỗ trợ nhanh ngay trên app iOS.</a:t>
            </a:r>
          </a:p>
        </p:txBody>
      </p:sp>
    </p:spTree>
    <p:extLst>
      <p:ext uri="{BB962C8B-B14F-4D97-AF65-F5344CB8AC3E}">
        <p14:creationId xmlns:p14="http://schemas.microsoft.com/office/powerpoint/2010/main" val="195793440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1" name="AutoShape 336">
            <a:extLst xmlns:a="http://schemas.openxmlformats.org/drawingml/2006/main">
              <a:ext uri="{FF2B5EF4-FFF2-40B4-BE49-F238E27FC236}">
                <a16:creationId xmlns:a16="http://schemas.microsoft.com/office/drawing/2014/main" id="{54AB9E5F-CCAA-459D-B5F3-A2642BBC329C}"/>
              </a:ext>
            </a:extLst>
          </p:cNvPr>
          <p:cNvSpPr>
            <a:spLocks xmlns:a="http://schemas.openxmlformats.org/drawingml/2006/main" noGrp="1"/>
          </p:cNvSpPr>
          <p:nvPr/>
        </p:nvSpPr>
        <p:spPr>
          <a:xfrm xmlns:a="http://schemas.openxmlformats.org/drawingml/2006/main">
            <a:off x="1507371" y="1458166"/>
            <a:ext cx="875883" cy="432048"/>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Chẩn đoán</a:t>
            </a:r>
          </a:p>
        </p:txBody>
      </p:sp>
      <p:sp>
        <p:nvSpPr>
          <p:cNvPr id="52" name="AutoShape 336">
            <a:extLst xmlns:a="http://schemas.openxmlformats.org/drawingml/2006/main">
              <a:ext uri="{FF2B5EF4-FFF2-40B4-BE49-F238E27FC236}">
                <a16:creationId xmlns:a16="http://schemas.microsoft.com/office/drawing/2014/main" id="{51988613-71FE-4D8B-9E4C-270C3A6CC5E6}"/>
              </a:ext>
            </a:extLst>
          </p:cNvPr>
          <p:cNvSpPr>
            <a:spLocks xmlns:a="http://schemas.openxmlformats.org/drawingml/2006/main" noGrp="1"/>
          </p:cNvSpPr>
          <p:nvPr/>
        </p:nvSpPr>
        <p:spPr>
          <a:xfrm xmlns:a="http://schemas.openxmlformats.org/drawingml/2006/main">
            <a:off x="1501760" y="3731056"/>
            <a:ext cx="863539" cy="432048"/>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Hỗ trợ</a:t>
            </a:r>
          </a:p>
        </p:txBody>
      </p:sp>
      <p:sp>
        <p:nvSpPr>
          <p:cNvPr id="53" name="AutoShape 336">
            <a:extLst xmlns:a="http://schemas.openxmlformats.org/drawingml/2006/main">
              <a:ext uri="{FF2B5EF4-FFF2-40B4-BE49-F238E27FC236}">
                <a16:creationId xmlns:a16="http://schemas.microsoft.com/office/drawing/2014/main" id="{A1B290CA-9316-4FF9-89C9-51B61F4FCA37}"/>
              </a:ext>
            </a:extLst>
          </p:cNvPr>
          <p:cNvSpPr>
            <a:spLocks xmlns:a="http://schemas.openxmlformats.org/drawingml/2006/main" noGrp="1"/>
          </p:cNvSpPr>
          <p:nvPr/>
        </p:nvSpPr>
        <p:spPr>
          <a:xfrm xmlns:a="http://schemas.openxmlformats.org/drawingml/2006/main">
            <a:off x="1501759" y="2575735"/>
            <a:ext cx="876655" cy="457200"/>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Quản lý</a:t>
            </a:r>
          </a:p>
        </p:txBody>
      </p:sp>
      <p:sp>
        <p:nvSpPr>
          <p:cNvPr id="2" name="Rectangle 1">
            <a:extLst xmlns:a="http://schemas.openxmlformats.org/drawingml/2006/main">
              <a:ext uri="{FF2B5EF4-FFF2-40B4-BE49-F238E27FC236}">
                <a16:creationId xmlns:a16="http://schemas.microsoft.com/office/drawing/2014/main" id="{445E3A8A-F6E8-4BA5-8548-3D99507BA9E6}"/>
              </a:ext>
            </a:extLst>
          </p:cNvPr>
          <p:cNvSpPr>
            <a:spLocks xmlns:a="http://schemas.openxmlformats.org/drawingml/2006/main" noGrp="1"/>
          </p:cNvSpPr>
          <p:nvPr/>
        </p:nvSpPr>
        <p:spPr>
          <a:xfrm xmlns:a="http://schemas.openxmlformats.org/drawingml/2006/main">
            <a:off x="355107" y="550416"/>
            <a:ext cx="1722268" cy="239697"/>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PHẦN 1: MỤC TIÊU</a:t>
            </a:r>
          </a:p>
        </p:txBody>
      </p:sp>
      <p:sp>
        <p:nvSpPr>
          <p:cNvPr id="7" name="Rectangle 5">
            <a:extLst xmlns:a="http://schemas.openxmlformats.org/drawingml/2006/main">
              <a:ext uri="{FF2B5EF4-FFF2-40B4-BE49-F238E27FC236}">
                <a16:creationId xmlns:a16="http://schemas.microsoft.com/office/drawing/2014/main" id="{7CF60FD3-F338-4BE9-85DB-C98D87E067BF}"/>
              </a:ext>
            </a:extLst>
          </p:cNvPr>
          <p:cNvSpPr>
            <a:spLocks xmlns:a="http://schemas.openxmlformats.org/drawingml/2006/main" noGrp="1"/>
          </p:cNvSpPr>
          <p:nvPr/>
        </p:nvSpPr>
        <p:spPr>
          <a:xfrm xmlns:a="http://schemas.openxmlformats.org/drawingml/2006/main">
            <a:off x="2605315" y="1581857"/>
            <a:ext cx="7239289"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Cho phép chụp/chọn ảnh lá và nhận dự đoán bệnh cùng độ tin cậy.</a:t>
            </a:r>
          </a:p>
        </p:txBody>
      </p:sp>
      <p:sp>
        <p:nvSpPr>
          <p:cNvPr id="12" name="Rectangle 10">
            <a:extLst xmlns:a="http://schemas.openxmlformats.org/drawingml/2006/main">
              <a:ext uri="{FF2B5EF4-FFF2-40B4-BE49-F238E27FC236}">
                <a16:creationId xmlns:a16="http://schemas.microsoft.com/office/drawing/2014/main" id="{BE318972-C96A-4C22-84A6-DFC6169B038E}"/>
              </a:ext>
            </a:extLst>
          </p:cNvPr>
          <p:cNvSpPr>
            <a:spLocks xmlns:a="http://schemas.openxmlformats.org/drawingml/2006/main" noGrp="1"/>
          </p:cNvSpPr>
          <p:nvPr/>
        </p:nvSpPr>
        <p:spPr>
          <a:xfrm xmlns:a="http://schemas.openxmlformats.org/drawingml/2006/main">
            <a:off x="2599703" y="2733198"/>
            <a:ext cx="5256247"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Lưu lịch sử chẩn đoán, quản lý cây cá nhân và kế hoạch chăm sóc.</a:t>
            </a:r>
          </a:p>
        </p:txBody>
      </p:sp>
      <p:sp>
        <p:nvSpPr>
          <p:cNvPr id="13" name="Rectangle 11">
            <a:extLst xmlns:a="http://schemas.openxmlformats.org/drawingml/2006/main">
              <a:ext uri="{FF2B5EF4-FFF2-40B4-BE49-F238E27FC236}">
                <a16:creationId xmlns:a16="http://schemas.microsoft.com/office/drawing/2014/main" id="{7D22B5A7-19D1-425A-8788-64BF4DDE3249}"/>
              </a:ext>
            </a:extLst>
          </p:cNvPr>
          <p:cNvSpPr>
            <a:spLocks xmlns:a="http://schemas.openxmlformats.org/drawingml/2006/main" noGrp="1"/>
          </p:cNvSpPr>
          <p:nvPr/>
        </p:nvSpPr>
        <p:spPr>
          <a:xfrm xmlns:a="http://schemas.openxmlformats.org/drawingml/2006/main">
            <a:off x="2599703" y="3836597"/>
            <a:ext cx="5844549"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Cung cấp tư vấn tiếng Việt, thời tiết, bản đồ vùng dịch và phản hồi sai.</a:t>
            </a:r>
          </a:p>
        </p:txBody>
      </p:sp>
    </p:spTree>
    <p:extLst>
      <p:ext uri="{BB962C8B-B14F-4D97-AF65-F5344CB8AC3E}">
        <p14:creationId xmlns:p14="http://schemas.microsoft.com/office/powerpoint/2010/main" val="195793440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Ý NGHĨA KHOA HỌC &amp; THỰC TIỄN</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Thực tiễn:</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Hỗ trợ người trồng cây phát hiện sớm bệnh</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Giảm thời gian tra cứu thông tin</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Theo dõi lịch sử và chăm sóc cây có hệ thống</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Khoa học:</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Ứng dụng học sâu và xử lý ảnh trong nông nghiệp</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Kết nối mô hình AI với app iOS và backend</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Tạo nền tảng mở rộng cho nông nghiệp thông minh</a:t>
            </a:r>
          </a:p>
        </p:txBody>
      </p:sp>
    </p:spTree>
    <p:extLst>
      <p:ext uri="{BB962C8B-B14F-4D97-AF65-F5344CB8AC3E}">
        <p14:creationId xmlns:p14="http://schemas.microsoft.com/office/powerpoint/2010/main" val="373885543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CÔNG NGHỆ SỬ DỤNG</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Ứng dụng iOS:</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Swift, SwiftUI, Xcode</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Camera/thư viện ảnh, MapKit, Core Location</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Giao diện tối giản, dễ thao tác trên iPhone</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Backend &amp; dịch vụ:</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Python, FastAPI, Uvicorn, Render</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Supabase PostgreSQL/Auth/Storage</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Gemini API, OpenWeather API, AI endpoint</a:t>
            </a:r>
          </a:p>
        </p:txBody>
      </p:sp>
    </p:spTree>
    <p:extLst>
      <p:ext uri="{BB962C8B-B14F-4D97-AF65-F5344CB8AC3E}">
        <p14:creationId xmlns:p14="http://schemas.microsoft.com/office/powerpoint/2010/main" val="373885543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6439DB71-B88B-13E6-20C9-D445279D6565}"/>
              </a:ext>
            </a:extLst>
          </p:cNvPr>
          <p:cNvSpPr>
            <a:spLocks xmlns:a="http://schemas.openxmlformats.org/drawingml/2006/main" noGrp="1"/>
          </p:cNvSpPr>
          <p:nvPr/>
        </p:nvSpPr>
        <p:spPr>
          <a:xfrm xmlns:a="http://schemas.openxmlformats.org/drawingml/2006/main">
            <a:off x="1474901" y="2363900"/>
            <a:ext cx="4813604" cy="310854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l">
              <a:lnSpc>
                <a:spcPct val="100000"/>
              </a:lnSpc>
              <a:spcBef>
                <a:spcPts val="0"/>
              </a:spcBef>
              <a:spcAft>
                <a:spcPts val="0"/>
              </a:spcAft>
              <a:buNone/>
            </a:pPr>
            <a:r>
              <a:rPr sz="3600" b="1" i="0" u="none" cap="none">
                <a:ln>
                  <a:noFill/>
                </a:ln>
                <a:solidFill>
                  <a:prstClr val="white"/>
                </a:solidFill>
                <a:latin typeface="UTM Neutra"/>
                <a:ea typeface="UTM Neutra"/>
                <a:cs typeface="UTM Neutra"/>
              </a:rPr>
              <a:t>PHẦN 2</a:t>
            </a:r>
          </a:p>
          <a:p xmlns:a="http://schemas.openxmlformats.org/drawingml/2006/main">
            <a:pPr marL="0" indent="0" algn="l">
              <a:lnSpc>
                <a:spcPct val="100000"/>
              </a:lnSpc>
              <a:spcBef>
                <a:spcPts val="0"/>
              </a:spcBef>
              <a:spcAft>
                <a:spcPts val="0"/>
              </a:spcAft>
              <a:buNone/>
            </a:pPr>
            <a:r>
              <a:rPr sz="8000" b="1" i="0" u="none" cap="none">
                <a:ln>
                  <a:noFill/>
                </a:ln>
                <a:solidFill>
                  <a:srgbClr val="FFF106"/>
                </a:solidFill>
                <a:latin typeface="UTM Neutra"/>
                <a:ea typeface="UTM Neutra"/>
                <a:cs typeface="UTM Neutra"/>
              </a:rPr>
              <a:t>Phân tích &amp; thiết kế</a:t>
            </a:r>
          </a:p>
        </p:txBody>
      </p:sp>
      <p:sp>
        <p:nvSpPr>
          <p:cNvPr id="2" name="Rectangle 1">
            <a:extLst xmlns:a="http://schemas.openxmlformats.org/drawingml/2006/main">
              <a:ext uri="{FF2B5EF4-FFF2-40B4-BE49-F238E27FC236}">
                <a16:creationId xmlns:a16="http://schemas.microsoft.com/office/drawing/2014/main" id="{9F1140A8-0DEA-4459-9D47-7031037DBACB}"/>
              </a:ext>
            </a:extLst>
          </p:cNvPr>
          <p:cNvSpPr>
            <a:spLocks xmlns:a="http://schemas.openxmlformats.org/drawingml/2006/main" noGrp="1"/>
          </p:cNvSpPr>
          <p:nvPr/>
        </p:nvSpPr>
        <p:spPr>
          <a:xfrm xmlns:a="http://schemas.openxmlformats.org/drawingml/2006/main">
            <a:off x="6288505" y="2176697"/>
            <a:ext cx="51215" cy="3164560"/>
          </a:xfrm>
          <a:prstGeom xmlns:a="http://schemas.openxmlformats.org/drawingml/2006/main" prst="rect">
            <a:avLst/>
          </a:prstGeom>
          <a:solidFill xmlns:a="http://schemas.openxmlformats.org/drawingml/2006/main">
            <a:srgbClr val="FFF106"/>
          </a:solidFill>
          <a:ln xmlns:a="http://schemas.openxmlformats.org/drawingml/2006/main">
            <a:solidFill>
              <a:srgbClr val="085189"/>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p>
        </p:txBody>
      </p:sp>
    </p:spTree>
    <p:extLst>
      <p:ext uri="{BB962C8B-B14F-4D97-AF65-F5344CB8AC3E}">
        <p14:creationId xmlns:p14="http://schemas.microsoft.com/office/powerpoint/2010/main" val="235779690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1" name="AutoShape 336">
            <a:extLst xmlns:a="http://schemas.openxmlformats.org/drawingml/2006/main">
              <a:ext uri="{FF2B5EF4-FFF2-40B4-BE49-F238E27FC236}">
                <a16:creationId xmlns:a16="http://schemas.microsoft.com/office/drawing/2014/main" id="{54AB9E5F-CCAA-459D-B5F3-A2642BBC329C}"/>
              </a:ext>
            </a:extLst>
          </p:cNvPr>
          <p:cNvSpPr>
            <a:spLocks xmlns:a="http://schemas.openxmlformats.org/drawingml/2006/main" noGrp="1"/>
          </p:cNvSpPr>
          <p:nvPr/>
        </p:nvSpPr>
        <p:spPr>
          <a:xfrm xmlns:a="http://schemas.openxmlformats.org/drawingml/2006/main">
            <a:off x="1507371" y="1458166"/>
            <a:ext cx="875883" cy="432048"/>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Khách</a:t>
            </a:r>
          </a:p>
        </p:txBody>
      </p:sp>
      <p:sp>
        <p:nvSpPr>
          <p:cNvPr id="52" name="AutoShape 336">
            <a:extLst xmlns:a="http://schemas.openxmlformats.org/drawingml/2006/main">
              <a:ext uri="{FF2B5EF4-FFF2-40B4-BE49-F238E27FC236}">
                <a16:creationId xmlns:a16="http://schemas.microsoft.com/office/drawing/2014/main" id="{51988613-71FE-4D8B-9E4C-270C3A6CC5E6}"/>
              </a:ext>
            </a:extLst>
          </p:cNvPr>
          <p:cNvSpPr>
            <a:spLocks xmlns:a="http://schemas.openxmlformats.org/drawingml/2006/main" noGrp="1"/>
          </p:cNvSpPr>
          <p:nvPr/>
        </p:nvSpPr>
        <p:spPr>
          <a:xfrm xmlns:a="http://schemas.openxmlformats.org/drawingml/2006/main">
            <a:off x="1501760" y="3731056"/>
            <a:ext cx="863539" cy="432048"/>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Chuyên gia</a:t>
            </a:r>
          </a:p>
        </p:txBody>
      </p:sp>
      <p:sp>
        <p:nvSpPr>
          <p:cNvPr id="53" name="AutoShape 336">
            <a:extLst xmlns:a="http://schemas.openxmlformats.org/drawingml/2006/main">
              <a:ext uri="{FF2B5EF4-FFF2-40B4-BE49-F238E27FC236}">
                <a16:creationId xmlns:a16="http://schemas.microsoft.com/office/drawing/2014/main" id="{A1B290CA-9316-4FF9-89C9-51B61F4FCA37}"/>
              </a:ext>
            </a:extLst>
          </p:cNvPr>
          <p:cNvSpPr>
            <a:spLocks xmlns:a="http://schemas.openxmlformats.org/drawingml/2006/main" noGrp="1"/>
          </p:cNvSpPr>
          <p:nvPr/>
        </p:nvSpPr>
        <p:spPr>
          <a:xfrm xmlns:a="http://schemas.openxmlformats.org/drawingml/2006/main">
            <a:off x="1501759" y="2575735"/>
            <a:ext cx="876655" cy="457200"/>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Người dùng</a:t>
            </a:r>
          </a:p>
        </p:txBody>
      </p:sp>
      <p:sp>
        <p:nvSpPr>
          <p:cNvPr id="2" name="Rectangle 1">
            <a:extLst xmlns:a="http://schemas.openxmlformats.org/drawingml/2006/main">
              <a:ext uri="{FF2B5EF4-FFF2-40B4-BE49-F238E27FC236}">
                <a16:creationId xmlns:a16="http://schemas.microsoft.com/office/drawing/2014/main" id="{445E3A8A-F6E8-4BA5-8548-3D99507BA9E6}"/>
              </a:ext>
            </a:extLst>
          </p:cNvPr>
          <p:cNvSpPr>
            <a:spLocks xmlns:a="http://schemas.openxmlformats.org/drawingml/2006/main" noGrp="1"/>
          </p:cNvSpPr>
          <p:nvPr/>
        </p:nvSpPr>
        <p:spPr>
          <a:xfrm xmlns:a="http://schemas.openxmlformats.org/drawingml/2006/main">
            <a:off x="355107" y="550416"/>
            <a:ext cx="1722268" cy="239697"/>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PHẦN 2: TÁC NHÂN HỆ THỐNG</a:t>
            </a:r>
          </a:p>
        </p:txBody>
      </p:sp>
      <p:sp>
        <p:nvSpPr>
          <p:cNvPr id="7" name="Rectangle 5">
            <a:extLst xmlns:a="http://schemas.openxmlformats.org/drawingml/2006/main">
              <a:ext uri="{FF2B5EF4-FFF2-40B4-BE49-F238E27FC236}">
                <a16:creationId xmlns:a16="http://schemas.microsoft.com/office/drawing/2014/main" id="{7CF60FD3-F338-4BE9-85DB-C98D87E067BF}"/>
              </a:ext>
            </a:extLst>
          </p:cNvPr>
          <p:cNvSpPr>
            <a:spLocks xmlns:a="http://schemas.openxmlformats.org/drawingml/2006/main" noGrp="1"/>
          </p:cNvSpPr>
          <p:nvPr/>
        </p:nvSpPr>
        <p:spPr>
          <a:xfrm xmlns:a="http://schemas.openxmlformats.org/drawingml/2006/main">
            <a:off x="2605315" y="1581857"/>
            <a:ext cx="7239289"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Truy cập chức năng cơ bản, xem thông tin và đăng ký tài khoản.</a:t>
            </a:r>
          </a:p>
        </p:txBody>
      </p:sp>
      <p:sp>
        <p:nvSpPr>
          <p:cNvPr id="12" name="Rectangle 10">
            <a:extLst xmlns:a="http://schemas.openxmlformats.org/drawingml/2006/main">
              <a:ext uri="{FF2B5EF4-FFF2-40B4-BE49-F238E27FC236}">
                <a16:creationId xmlns:a16="http://schemas.microsoft.com/office/drawing/2014/main" id="{BE318972-C96A-4C22-84A6-DFC6169B038E}"/>
              </a:ext>
            </a:extLst>
          </p:cNvPr>
          <p:cNvSpPr>
            <a:spLocks xmlns:a="http://schemas.openxmlformats.org/drawingml/2006/main" noGrp="1"/>
          </p:cNvSpPr>
          <p:nvPr/>
        </p:nvSpPr>
        <p:spPr>
          <a:xfrm xmlns:a="http://schemas.openxmlformats.org/drawingml/2006/main">
            <a:off x="2599703" y="2733198"/>
            <a:ext cx="5256247"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Chẩn đoán bệnh, xem kết quả, lưu lịch sử, quản lý cây và lịch chăm sóc.</a:t>
            </a:r>
          </a:p>
        </p:txBody>
      </p:sp>
      <p:sp>
        <p:nvSpPr>
          <p:cNvPr id="13" name="Rectangle 11">
            <a:extLst xmlns:a="http://schemas.openxmlformats.org/drawingml/2006/main">
              <a:ext uri="{FF2B5EF4-FFF2-40B4-BE49-F238E27FC236}">
                <a16:creationId xmlns:a16="http://schemas.microsoft.com/office/drawing/2014/main" id="{7D22B5A7-19D1-425A-8788-64BF4DDE3249}"/>
              </a:ext>
            </a:extLst>
          </p:cNvPr>
          <p:cNvSpPr>
            <a:spLocks xmlns:a="http://schemas.openxmlformats.org/drawingml/2006/main" noGrp="1"/>
          </p:cNvSpPr>
          <p:nvPr/>
        </p:nvSpPr>
        <p:spPr>
          <a:xfrm xmlns:a="http://schemas.openxmlformats.org/drawingml/2006/main">
            <a:off x="2599703" y="3836597"/>
            <a:ext cx="5844549"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Thẩm định phản hồi, cập nhật dữ liệu bệnh và hỗ trợ cải thiện mô hình.</a:t>
            </a:r>
          </a:p>
        </p:txBody>
      </p:sp>
    </p:spTree>
    <p:extLst>
      <p:ext uri="{BB962C8B-B14F-4D97-AF65-F5344CB8AC3E}">
        <p14:creationId xmlns:p14="http://schemas.microsoft.com/office/powerpoint/2010/main" val="195793440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YÊU CẦU CHỨC NĂNG</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Nhóm tài khoản &amp; chẩn đoán:</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Đăng ký, đăng nhập, đăng xuất</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Chụp hoặc chọn ảnh từ thư viện</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Gửi ảnh để phân loại bệnh và xem độ tin cậy</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Nhóm chăm sóc &amp; mở rộng:</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Lưu lịch sử, quản lý cây cá nhân</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Tư vấn chăm sóc bằng AI tiếng Việt</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Thời tiết, bản đồ vùng dịch, phản hồi sai</a:t>
            </a:r>
          </a:p>
        </p:txBody>
      </p:sp>
    </p:spTree>
    <p:extLst>
      <p:ext uri="{BB962C8B-B14F-4D97-AF65-F5344CB8AC3E}">
        <p14:creationId xmlns:p14="http://schemas.microsoft.com/office/powerpoint/2010/main" val="373885543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YÊU CẦU PHI CHỨC NĂNG</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Trải nghiệm &amp; hiệu suất:</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Giao diện trực quan, dễ dùng trên iOS</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Chuyển màn hình mượt, phản hồi rõ ràng</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Thông báo lỗi khi mất mạng hoặc ảnh không hợp lệ</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Bảo mật &amp; mở rộng:</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Xác thực qua Supabase Auth</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Không đưa khóa bí mật vào app iOS</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REST API dễ mở rộng và thay mô hình AI phía server</a:t>
            </a:r>
          </a:p>
        </p:txBody>
      </p:sp>
    </p:spTree>
    <p:extLst>
      <p:ext uri="{BB962C8B-B14F-4D97-AF65-F5344CB8AC3E}">
        <p14:creationId xmlns:p14="http://schemas.microsoft.com/office/powerpoint/2010/main" val="373885543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3">
            <a:extLst xmlns:a="http://schemas.openxmlformats.org/drawingml/2006/main">
              <a:ext uri="{FF2B5EF4-FFF2-40B4-BE49-F238E27FC236}">
                <a16:creationId xmlns:a16="http://schemas.microsoft.com/office/drawing/2014/main" id="{E24016A1-7589-45C7-AB65-D344AD5516D2}"/>
              </a:ext>
            </a:extLst>
          </p:cNvPr>
          <p:cNvSpPr>
            <a:spLocks xmlns:a="http://schemas.openxmlformats.org/drawingml/2006/main" noGrp="1"/>
          </p:cNvSpPr>
          <p:nvPr/>
        </p:nvSpPr>
        <p:spPr>
          <a:xfrm xmlns:a="http://schemas.openxmlformats.org/drawingml/2006/main">
            <a:off x="275771" y="143394"/>
            <a:ext cx="2678490" cy="2462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600" b="0" i="0" u="none" cap="none">
                <a:ln>
                  <a:noFill/>
                </a:ln>
                <a:latin typeface="Arial Unicode MS"/>
                <a:ea typeface="Arial Unicode MS"/>
                <a:cs typeface="Arial Unicode MS"/>
              </a:rPr>
              <a:t>KIẾN TRÚC CLIENT-SERVER</a:t>
            </a:r>
          </a:p>
        </p:txBody>
      </p:sp>
      <p:sp>
        <p:nvSpPr>
          <p:cNvPr id="6" name="TextBox 5">
            <a:extLst xmlns:a="http://schemas.openxmlformats.org/drawingml/2006/main">
              <a:ext uri="{FF2B5EF4-FFF2-40B4-BE49-F238E27FC236}">
                <a16:creationId xmlns:a16="http://schemas.microsoft.com/office/drawing/2014/main" id="{0764DEDB-3310-499C-9BC3-BFF0F8DF2C90}"/>
              </a:ext>
            </a:extLst>
          </p:cNvPr>
          <p:cNvSpPr>
            <a:spLocks xmlns:a="http://schemas.openxmlformats.org/drawingml/2006/main" noGrp="1"/>
          </p:cNvSpPr>
          <p:nvPr/>
        </p:nvSpPr>
        <p:spPr>
          <a:xfrm xmlns:a="http://schemas.openxmlformats.org/drawingml/2006/main">
            <a:off x="275771" y="721065"/>
            <a:ext cx="6444343" cy="2316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1200"/>
              </a:spcBef>
              <a:spcAft>
                <a:spcPts val="1200"/>
              </a:spcAft>
              <a:buNone/>
            </a:pPr>
            <a:r>
              <a:rPr sz="1800" b="0" i="0" u="none">
                <a:solidFill>
                  <a:srgbClr val="000000"/>
                </a:solidFill>
                <a:latin typeface="Arial"/>
                <a:ea typeface="Arial"/>
                <a:cs typeface="Arial"/>
              </a:rPr>
              <a:t>App iOS gửi ảnh và nhận kết quả từ FastAPI. Backend kiểm tra ảnh, gọi mô hình AI, lưu dữ liệu trên Supabase và tích hợp các dịch vụ hỗ trợ.</a:t>
            </a:r>
          </a:p>
          <a:p xmlns:a="http://schemas.openxmlformats.org/drawingml/2006/main">
            <a:pPr>
              <a:buNone/>
            </a:pPr>
            <a:r>
              <a:t/>
            </a:r>
          </a:p>
          <a:p xmlns:a="http://schemas.openxmlformats.org/drawingml/2006/main">
            <a:pPr>
              <a:buNone/>
            </a:pPr>
            <a:r>
              <a:t>Kiến trúc này giúp cập nhật mô hình ở server mà không cần thay đổi app trên thiết bị người dùng.</a:t>
            </a:r>
          </a:p>
        </p:txBody>
      </p:sp>
      <p:pic>
        <p:nvPicPr>
          <p:cNvPr id="10" name="Picture 4"/>
          <p:cNvPicPr>
            <a:picLocks xmlns:a="http://schemas.openxmlformats.org/drawingml/2006/main" noChangeAspect="1"/>
          </p:cNvPicPr>
          <p:nvPr/>
        </p:nvPicPr>
        <p:blipFill>
          <a:blip xmlns:r="http://schemas.openxmlformats.org/officeDocument/2006/relationships" xmlns:a="http://schemas.openxmlformats.org/drawingml/2006/main" r:embed="R90f18757f7bb401b"/>
          <a:srcRect xmlns:a="http://schemas.openxmlformats.org/drawingml/2006/main" l="0" t="0" r="0" b="0"/>
          <a:stretch xmlns:a="http://schemas.openxmlformats.org/drawingml/2006/main">
            <a:fillRect l="0" t="0" r="0" b="0"/>
          </a:stretch>
        </p:blipFill>
        <p:spPr>
          <a:xfrm xmlns:a="http://schemas.openxmlformats.org/drawingml/2006/main" flipH="0" flipV="0">
            <a:off x="6720114" y="643864"/>
            <a:ext cx="4348078" cy="4524829"/>
          </a:xfrm>
          <a:prstGeom xmlns:a="http://schemas.openxmlformats.org/drawingml/2006/main" prst="rect">
            <a:avLst/>
          </a:prstGeom>
        </p:spPr>
      </p:pic>
    </p:spTree>
    <p:extLst>
      <p:ext uri="{BB962C8B-B14F-4D97-AF65-F5344CB8AC3E}">
        <p14:creationId xmlns:p14="http://schemas.microsoft.com/office/powerpoint/2010/main" val="161345023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1" name="AutoShape 336">
            <a:extLst xmlns:a="http://schemas.openxmlformats.org/drawingml/2006/main">
              <a:ext uri="{FF2B5EF4-FFF2-40B4-BE49-F238E27FC236}">
                <a16:creationId xmlns:a16="http://schemas.microsoft.com/office/drawing/2014/main" id="{54AB9E5F-CCAA-459D-B5F3-A2642BBC329C}"/>
              </a:ext>
            </a:extLst>
          </p:cNvPr>
          <p:cNvSpPr>
            <a:spLocks xmlns:a="http://schemas.openxmlformats.org/drawingml/2006/main" noGrp="1"/>
          </p:cNvSpPr>
          <p:nvPr/>
        </p:nvSpPr>
        <p:spPr>
          <a:xfrm xmlns:a="http://schemas.openxmlformats.org/drawingml/2006/main">
            <a:off x="1507371" y="1458166"/>
            <a:ext cx="875883" cy="432048"/>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1. Ảnh</a:t>
            </a:r>
          </a:p>
        </p:txBody>
      </p:sp>
      <p:sp>
        <p:nvSpPr>
          <p:cNvPr id="52" name="AutoShape 336">
            <a:extLst xmlns:a="http://schemas.openxmlformats.org/drawingml/2006/main">
              <a:ext uri="{FF2B5EF4-FFF2-40B4-BE49-F238E27FC236}">
                <a16:creationId xmlns:a16="http://schemas.microsoft.com/office/drawing/2014/main" id="{51988613-71FE-4D8B-9E4C-270C3A6CC5E6}"/>
              </a:ext>
            </a:extLst>
          </p:cNvPr>
          <p:cNvSpPr>
            <a:spLocks xmlns:a="http://schemas.openxmlformats.org/drawingml/2006/main" noGrp="1"/>
          </p:cNvSpPr>
          <p:nvPr/>
        </p:nvSpPr>
        <p:spPr>
          <a:xfrm xmlns:a="http://schemas.openxmlformats.org/drawingml/2006/main">
            <a:off x="1501760" y="3731056"/>
            <a:ext cx="863539" cy="432048"/>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3. Kết quả</a:t>
            </a:r>
          </a:p>
        </p:txBody>
      </p:sp>
      <p:sp>
        <p:nvSpPr>
          <p:cNvPr id="53" name="AutoShape 336">
            <a:extLst xmlns:a="http://schemas.openxmlformats.org/drawingml/2006/main">
              <a:ext uri="{FF2B5EF4-FFF2-40B4-BE49-F238E27FC236}">
                <a16:creationId xmlns:a16="http://schemas.microsoft.com/office/drawing/2014/main" id="{A1B290CA-9316-4FF9-89C9-51B61F4FCA37}"/>
              </a:ext>
            </a:extLst>
          </p:cNvPr>
          <p:cNvSpPr>
            <a:spLocks xmlns:a="http://schemas.openxmlformats.org/drawingml/2006/main" noGrp="1"/>
          </p:cNvSpPr>
          <p:nvPr/>
        </p:nvSpPr>
        <p:spPr>
          <a:xfrm xmlns:a="http://schemas.openxmlformats.org/drawingml/2006/main">
            <a:off x="1501759" y="2575735"/>
            <a:ext cx="876655" cy="457200"/>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2. AI</a:t>
            </a:r>
          </a:p>
        </p:txBody>
      </p:sp>
      <p:sp>
        <p:nvSpPr>
          <p:cNvPr id="2" name="Rectangle 1">
            <a:extLst xmlns:a="http://schemas.openxmlformats.org/drawingml/2006/main">
              <a:ext uri="{FF2B5EF4-FFF2-40B4-BE49-F238E27FC236}">
                <a16:creationId xmlns:a16="http://schemas.microsoft.com/office/drawing/2014/main" id="{445E3A8A-F6E8-4BA5-8548-3D99507BA9E6}"/>
              </a:ext>
            </a:extLst>
          </p:cNvPr>
          <p:cNvSpPr>
            <a:spLocks xmlns:a="http://schemas.openxmlformats.org/drawingml/2006/main" noGrp="1"/>
          </p:cNvSpPr>
          <p:nvPr/>
        </p:nvSpPr>
        <p:spPr>
          <a:xfrm xmlns:a="http://schemas.openxmlformats.org/drawingml/2006/main">
            <a:off x="355107" y="550416"/>
            <a:ext cx="1722268" cy="239697"/>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PHẦN 2: LUỒNG CHẨN ĐOÁN</a:t>
            </a:r>
          </a:p>
        </p:txBody>
      </p:sp>
      <p:sp>
        <p:nvSpPr>
          <p:cNvPr id="7" name="Rectangle 5">
            <a:extLst xmlns:a="http://schemas.openxmlformats.org/drawingml/2006/main">
              <a:ext uri="{FF2B5EF4-FFF2-40B4-BE49-F238E27FC236}">
                <a16:creationId xmlns:a16="http://schemas.microsoft.com/office/drawing/2014/main" id="{7CF60FD3-F338-4BE9-85DB-C98D87E067BF}"/>
              </a:ext>
            </a:extLst>
          </p:cNvPr>
          <p:cNvSpPr>
            <a:spLocks xmlns:a="http://schemas.openxmlformats.org/drawingml/2006/main" noGrp="1"/>
          </p:cNvSpPr>
          <p:nvPr/>
        </p:nvSpPr>
        <p:spPr>
          <a:xfrm xmlns:a="http://schemas.openxmlformats.org/drawingml/2006/main">
            <a:off x="2605315" y="1581857"/>
            <a:ext cx="7239289"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Người dùng chụp/chọn ảnh lá cây và gửi lên FastAPI theo multipart/form-data.</a:t>
            </a:r>
          </a:p>
        </p:txBody>
      </p:sp>
      <p:sp>
        <p:nvSpPr>
          <p:cNvPr id="12" name="Rectangle 10">
            <a:extLst xmlns:a="http://schemas.openxmlformats.org/drawingml/2006/main">
              <a:ext uri="{FF2B5EF4-FFF2-40B4-BE49-F238E27FC236}">
                <a16:creationId xmlns:a16="http://schemas.microsoft.com/office/drawing/2014/main" id="{BE318972-C96A-4C22-84A6-DFC6169B038E}"/>
              </a:ext>
            </a:extLst>
          </p:cNvPr>
          <p:cNvSpPr>
            <a:spLocks xmlns:a="http://schemas.openxmlformats.org/drawingml/2006/main" noGrp="1"/>
          </p:cNvSpPr>
          <p:nvPr/>
        </p:nvSpPr>
        <p:spPr>
          <a:xfrm xmlns:a="http://schemas.openxmlformats.org/drawingml/2006/main">
            <a:off x="2599703" y="2733198"/>
            <a:ext cx="5256247"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Backend kiểm tra định dạng, tiền xử lý ảnh và gọi mô hình nhận diện bệnh.</a:t>
            </a:r>
          </a:p>
        </p:txBody>
      </p:sp>
      <p:sp>
        <p:nvSpPr>
          <p:cNvPr id="13" name="Rectangle 11">
            <a:extLst xmlns:a="http://schemas.openxmlformats.org/drawingml/2006/main">
              <a:ext uri="{FF2B5EF4-FFF2-40B4-BE49-F238E27FC236}">
                <a16:creationId xmlns:a16="http://schemas.microsoft.com/office/drawing/2014/main" id="{7D22B5A7-19D1-425A-8788-64BF4DDE3249}"/>
              </a:ext>
            </a:extLst>
          </p:cNvPr>
          <p:cNvSpPr>
            <a:spLocks xmlns:a="http://schemas.openxmlformats.org/drawingml/2006/main" noGrp="1"/>
          </p:cNvSpPr>
          <p:nvPr/>
        </p:nvSpPr>
        <p:spPr>
          <a:xfrm xmlns:a="http://schemas.openxmlformats.org/drawingml/2006/main">
            <a:off x="2599703" y="3836597"/>
            <a:ext cx="5844549"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Kết quả gồm tên cây, tên bệnh, độ tin cậy; ảnh/lịch sử được lưu nếu cần.</a:t>
            </a:r>
          </a:p>
        </p:txBody>
      </p:sp>
    </p:spTree>
    <p:extLst>
      <p:ext uri="{BB962C8B-B14F-4D97-AF65-F5344CB8AC3E}">
        <p14:creationId xmlns:p14="http://schemas.microsoft.com/office/powerpoint/2010/main" val="195793440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THIẾT KẾ CƠ SỞ DỮ LIỆU SUPABASE</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Nhóm dữ liệu chính:</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Profiles, History, Report_Cases</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User_Plants, Care_Plans, Care_Tasks</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Plant_Knowledge, Plant_Resources</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Vai trò Supabase:</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PostgreSQL lưu dữ liệu có cấu trúc</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Storage lưu ảnh chẩn đoán và tài nguyên</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Auth quản lý tài khoản và phiên đăng nhập</a:t>
            </a:r>
          </a:p>
        </p:txBody>
      </p:sp>
    </p:spTree>
    <p:extLst>
      <p:ext uri="{BB962C8B-B14F-4D97-AF65-F5344CB8AC3E}">
        <p14:creationId xmlns:p14="http://schemas.microsoft.com/office/powerpoint/2010/main" val="373885543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6439DB71-B88B-13E6-20C9-D445279D6565}"/>
              </a:ext>
            </a:extLst>
          </p:cNvPr>
          <p:cNvSpPr>
            <a:spLocks xmlns:a="http://schemas.openxmlformats.org/drawingml/2006/main" noGrp="1"/>
          </p:cNvSpPr>
          <p:nvPr/>
        </p:nvSpPr>
        <p:spPr>
          <a:xfrm xmlns:a="http://schemas.openxmlformats.org/drawingml/2006/main">
            <a:off x="1474901" y="2363900"/>
            <a:ext cx="4813604" cy="4297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l">
              <a:lnSpc>
                <a:spcPct val="100000"/>
              </a:lnSpc>
              <a:spcBef>
                <a:spcPts val="0"/>
              </a:spcBef>
              <a:spcAft>
                <a:spcPts val="0"/>
              </a:spcAft>
              <a:buNone/>
            </a:pPr>
            <a:r>
              <a:rPr sz="3600" b="1" i="0" u="none" cap="none">
                <a:ln>
                  <a:noFill/>
                </a:ln>
                <a:solidFill>
                  <a:prstClr val="white"/>
                </a:solidFill>
                <a:latin typeface="UTM Neutra"/>
                <a:ea typeface="UTM Neutra"/>
                <a:cs typeface="UTM Neutra"/>
              </a:rPr>
              <a:t>PHẦN 3</a:t>
            </a:r>
          </a:p>
          <a:p xmlns:a="http://schemas.openxmlformats.org/drawingml/2006/main">
            <a:pPr marL="0" indent="0" algn="l">
              <a:lnSpc>
                <a:spcPct val="100000"/>
              </a:lnSpc>
              <a:spcBef>
                <a:spcPts val="0"/>
              </a:spcBef>
              <a:spcAft>
                <a:spcPts val="0"/>
              </a:spcAft>
              <a:buNone/>
            </a:pPr>
            <a:r>
              <a:rPr sz="8000" b="1" i="0" u="none" cap="none">
                <a:ln>
                  <a:noFill/>
                </a:ln>
                <a:solidFill>
                  <a:srgbClr val="FFF106"/>
                </a:solidFill>
                <a:latin typeface="UTM Neutra"/>
                <a:ea typeface="UTM Neutra"/>
                <a:cs typeface="UTM Neutra"/>
              </a:rPr>
              <a:t>Dữ liệu &amp; mô hình AI</a:t>
            </a:r>
          </a:p>
        </p:txBody>
      </p:sp>
      <p:sp>
        <p:nvSpPr>
          <p:cNvPr id="2" name="Rectangle 1">
            <a:extLst xmlns:a="http://schemas.openxmlformats.org/drawingml/2006/main">
              <a:ext uri="{FF2B5EF4-FFF2-40B4-BE49-F238E27FC236}">
                <a16:creationId xmlns:a16="http://schemas.microsoft.com/office/drawing/2014/main" id="{9F1140A8-0DEA-4459-9D47-7031037DBACB}"/>
              </a:ext>
            </a:extLst>
          </p:cNvPr>
          <p:cNvSpPr>
            <a:spLocks xmlns:a="http://schemas.openxmlformats.org/drawingml/2006/main" noGrp="1"/>
          </p:cNvSpPr>
          <p:nvPr/>
        </p:nvSpPr>
        <p:spPr>
          <a:xfrm xmlns:a="http://schemas.openxmlformats.org/drawingml/2006/main">
            <a:off x="6288505" y="2176697"/>
            <a:ext cx="51215" cy="3164560"/>
          </a:xfrm>
          <a:prstGeom xmlns:a="http://schemas.openxmlformats.org/drawingml/2006/main" prst="rect">
            <a:avLst/>
          </a:prstGeom>
          <a:solidFill xmlns:a="http://schemas.openxmlformats.org/drawingml/2006/main">
            <a:srgbClr val="FFF106"/>
          </a:solidFill>
          <a:ln xmlns:a="http://schemas.openxmlformats.org/drawingml/2006/main">
            <a:solidFill>
              <a:srgbClr val="085189"/>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p>
        </p:txBody>
      </p:sp>
    </p:spTree>
    <p:extLst>
      <p:ext uri="{BB962C8B-B14F-4D97-AF65-F5344CB8AC3E}">
        <p14:creationId xmlns:p14="http://schemas.microsoft.com/office/powerpoint/2010/main" val="194996641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BỘ DỮ LIỆU SỬ DỤNG</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Nguồn dữ liệu:</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Tự thu thập, tổng hợp và phân loại</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Bổ sung từ Kaggle, Roboflow, Mendeley Data</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Có thêm dữ liệu Cassava, Corn, Rice từ Ghana</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Quy mô sau xử lý:</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71 lớp bệnh/trạng thái khỏe mạnh</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Train: 78.956 ảnh</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Validation: 22.610 ảnh</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Test: 11.347 ảnh</a:t>
            </a:r>
          </a:p>
        </p:txBody>
      </p:sp>
    </p:spTree>
    <p:extLst>
      <p:ext uri="{BB962C8B-B14F-4D97-AF65-F5344CB8AC3E}">
        <p14:creationId xmlns:p14="http://schemas.microsoft.com/office/powerpoint/2010/main" val="373885543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TIỀN XỬ LÝ ẢNH</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Làm sạch dữ liệu:</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Loại ảnh lỗi hoặc không đọc được</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Kiểm tra ảnh quá mờ, quá tối/quá sáng</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Chuẩn hóa tên lớp để tránh trùng lặp</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Chuẩn bị cho mô hình:</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Resize về 224x224x3</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Chuẩn hóa pixel về khoảng [0,1]</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Tạo batch dữ liệu bằng ImageDataGenerator</a:t>
            </a:r>
          </a:p>
        </p:txBody>
      </p:sp>
    </p:spTree>
    <p:extLst>
      <p:ext uri="{BB962C8B-B14F-4D97-AF65-F5344CB8AC3E}">
        <p14:creationId xmlns:p14="http://schemas.microsoft.com/office/powerpoint/2010/main" val="373885543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1" name="AutoShape 336">
            <a:extLst xmlns:a="http://schemas.openxmlformats.org/drawingml/2006/main">
              <a:ext uri="{FF2B5EF4-FFF2-40B4-BE49-F238E27FC236}">
                <a16:creationId xmlns:a16="http://schemas.microsoft.com/office/drawing/2014/main" id="{54AB9E5F-CCAA-459D-B5F3-A2642BBC329C}"/>
              </a:ext>
            </a:extLst>
          </p:cNvPr>
          <p:cNvSpPr>
            <a:spLocks xmlns:a="http://schemas.openxmlformats.org/drawingml/2006/main" noGrp="1"/>
          </p:cNvSpPr>
          <p:nvPr/>
        </p:nvSpPr>
        <p:spPr>
          <a:xfrm xmlns:a="http://schemas.openxmlformats.org/drawingml/2006/main">
            <a:off x="1507371" y="1458166"/>
            <a:ext cx="875883" cy="432048"/>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Mục tiêu</a:t>
            </a:r>
          </a:p>
        </p:txBody>
      </p:sp>
      <p:sp>
        <p:nvSpPr>
          <p:cNvPr id="52" name="AutoShape 336">
            <a:extLst xmlns:a="http://schemas.openxmlformats.org/drawingml/2006/main">
              <a:ext uri="{FF2B5EF4-FFF2-40B4-BE49-F238E27FC236}">
                <a16:creationId xmlns:a16="http://schemas.microsoft.com/office/drawing/2014/main" id="{51988613-71FE-4D8B-9E4C-270C3A6CC5E6}"/>
              </a:ext>
            </a:extLst>
          </p:cNvPr>
          <p:cNvSpPr>
            <a:spLocks xmlns:a="http://schemas.openxmlformats.org/drawingml/2006/main" noGrp="1"/>
          </p:cNvSpPr>
          <p:nvPr/>
        </p:nvSpPr>
        <p:spPr>
          <a:xfrm xmlns:a="http://schemas.openxmlformats.org/drawingml/2006/main">
            <a:off x="1501760" y="3731056"/>
            <a:ext cx="863539" cy="432048"/>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Hiệu quả</a:t>
            </a:r>
          </a:p>
        </p:txBody>
      </p:sp>
      <p:sp>
        <p:nvSpPr>
          <p:cNvPr id="53" name="AutoShape 336">
            <a:extLst xmlns:a="http://schemas.openxmlformats.org/drawingml/2006/main">
              <a:ext uri="{FF2B5EF4-FFF2-40B4-BE49-F238E27FC236}">
                <a16:creationId xmlns:a16="http://schemas.microsoft.com/office/drawing/2014/main" id="{A1B290CA-9316-4FF9-89C9-51B61F4FCA37}"/>
              </a:ext>
            </a:extLst>
          </p:cNvPr>
          <p:cNvSpPr>
            <a:spLocks xmlns:a="http://schemas.openxmlformats.org/drawingml/2006/main" noGrp="1"/>
          </p:cNvSpPr>
          <p:nvPr/>
        </p:nvSpPr>
        <p:spPr>
          <a:xfrm xmlns:a="http://schemas.openxmlformats.org/drawingml/2006/main">
            <a:off x="1501759" y="2575735"/>
            <a:ext cx="876655" cy="457200"/>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Kỹ thuật</a:t>
            </a:r>
          </a:p>
        </p:txBody>
      </p:sp>
      <p:sp>
        <p:nvSpPr>
          <p:cNvPr id="2" name="Rectangle 1">
            <a:extLst xmlns:a="http://schemas.openxmlformats.org/drawingml/2006/main">
              <a:ext uri="{FF2B5EF4-FFF2-40B4-BE49-F238E27FC236}">
                <a16:creationId xmlns:a16="http://schemas.microsoft.com/office/drawing/2014/main" id="{445E3A8A-F6E8-4BA5-8548-3D99507BA9E6}"/>
              </a:ext>
            </a:extLst>
          </p:cNvPr>
          <p:cNvSpPr>
            <a:spLocks xmlns:a="http://schemas.openxmlformats.org/drawingml/2006/main" noGrp="1"/>
          </p:cNvSpPr>
          <p:nvPr/>
        </p:nvSpPr>
        <p:spPr>
          <a:xfrm xmlns:a="http://schemas.openxmlformats.org/drawingml/2006/main">
            <a:off x="355107" y="550416"/>
            <a:ext cx="1722268" cy="239697"/>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PHẦN 3: TĂNG CƯỜNG DỮ LIỆU</a:t>
            </a:r>
          </a:p>
        </p:txBody>
      </p:sp>
      <p:sp>
        <p:nvSpPr>
          <p:cNvPr id="7" name="Rectangle 5">
            <a:extLst xmlns:a="http://schemas.openxmlformats.org/drawingml/2006/main">
              <a:ext uri="{FF2B5EF4-FFF2-40B4-BE49-F238E27FC236}">
                <a16:creationId xmlns:a16="http://schemas.microsoft.com/office/drawing/2014/main" id="{7CF60FD3-F338-4BE9-85DB-C98D87E067BF}"/>
              </a:ext>
            </a:extLst>
          </p:cNvPr>
          <p:cNvSpPr>
            <a:spLocks xmlns:a="http://schemas.openxmlformats.org/drawingml/2006/main" noGrp="1"/>
          </p:cNvSpPr>
          <p:nvPr/>
        </p:nvSpPr>
        <p:spPr>
          <a:xfrm xmlns:a="http://schemas.openxmlformats.org/drawingml/2006/main">
            <a:off x="2605315" y="1581857"/>
            <a:ext cx="7239289"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Tạo thêm biến thể ảnh để mô hình quen với điều kiện chụp thực tế.</a:t>
            </a:r>
          </a:p>
        </p:txBody>
      </p:sp>
      <p:sp>
        <p:nvSpPr>
          <p:cNvPr id="12" name="Rectangle 10">
            <a:extLst xmlns:a="http://schemas.openxmlformats.org/drawingml/2006/main">
              <a:ext uri="{FF2B5EF4-FFF2-40B4-BE49-F238E27FC236}">
                <a16:creationId xmlns:a16="http://schemas.microsoft.com/office/drawing/2014/main" id="{BE318972-C96A-4C22-84A6-DFC6169B038E}"/>
              </a:ext>
            </a:extLst>
          </p:cNvPr>
          <p:cNvSpPr>
            <a:spLocks xmlns:a="http://schemas.openxmlformats.org/drawingml/2006/main" noGrp="1"/>
          </p:cNvSpPr>
          <p:nvPr/>
        </p:nvSpPr>
        <p:spPr>
          <a:xfrm xmlns:a="http://schemas.openxmlformats.org/drawingml/2006/main">
            <a:off x="2599703" y="2733198"/>
            <a:ext cx="5256247"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Xoay, dịch chuyển, zoom, shear, lật ngang và thay đổi độ sáng.</a:t>
            </a:r>
          </a:p>
        </p:txBody>
      </p:sp>
      <p:sp>
        <p:nvSpPr>
          <p:cNvPr id="13" name="Rectangle 11">
            <a:extLst xmlns:a="http://schemas.openxmlformats.org/drawingml/2006/main">
              <a:ext uri="{FF2B5EF4-FFF2-40B4-BE49-F238E27FC236}">
                <a16:creationId xmlns:a16="http://schemas.microsoft.com/office/drawing/2014/main" id="{7D22B5A7-19D1-425A-8788-64BF4DDE3249}"/>
              </a:ext>
            </a:extLst>
          </p:cNvPr>
          <p:cNvSpPr>
            <a:spLocks xmlns:a="http://schemas.openxmlformats.org/drawingml/2006/main" noGrp="1"/>
          </p:cNvSpPr>
          <p:nvPr/>
        </p:nvSpPr>
        <p:spPr>
          <a:xfrm xmlns:a="http://schemas.openxmlformats.org/drawingml/2006/main">
            <a:off x="2599703" y="3836597"/>
            <a:ext cx="5844549"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Giảm overfitting, tăng khả năng nhận diện khi ảnh có góc/chất lượng khác nhau.</a:t>
            </a:r>
          </a:p>
        </p:txBody>
      </p:sp>
    </p:spTree>
    <p:extLst>
      <p:ext uri="{BB962C8B-B14F-4D97-AF65-F5344CB8AC3E}">
        <p14:creationId xmlns:p14="http://schemas.microsoft.com/office/powerpoint/2010/main" val="195793440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1" name="AutoShape 336">
            <a:extLst xmlns:a="http://schemas.openxmlformats.org/drawingml/2006/main">
              <a:ext uri="{FF2B5EF4-FFF2-40B4-BE49-F238E27FC236}">
                <a16:creationId xmlns:a16="http://schemas.microsoft.com/office/drawing/2014/main" id="{54AB9E5F-CCAA-459D-B5F3-A2642BBC329C}"/>
              </a:ext>
            </a:extLst>
          </p:cNvPr>
          <p:cNvSpPr>
            <a:spLocks xmlns:a="http://schemas.openxmlformats.org/drawingml/2006/main" noGrp="1"/>
          </p:cNvSpPr>
          <p:nvPr/>
        </p:nvSpPr>
        <p:spPr>
          <a:xfrm xmlns:a="http://schemas.openxmlformats.org/drawingml/2006/main">
            <a:off x="1507371" y="1458166"/>
            <a:ext cx="875883" cy="432048"/>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Trích xuất</a:t>
            </a:r>
          </a:p>
        </p:txBody>
      </p:sp>
      <p:sp>
        <p:nvSpPr>
          <p:cNvPr id="52" name="AutoShape 336">
            <a:extLst xmlns:a="http://schemas.openxmlformats.org/drawingml/2006/main">
              <a:ext uri="{FF2B5EF4-FFF2-40B4-BE49-F238E27FC236}">
                <a16:creationId xmlns:a16="http://schemas.microsoft.com/office/drawing/2014/main" id="{51988613-71FE-4D8B-9E4C-270C3A6CC5E6}"/>
              </a:ext>
            </a:extLst>
          </p:cNvPr>
          <p:cNvSpPr>
            <a:spLocks xmlns:a="http://schemas.openxmlformats.org/drawingml/2006/main" noGrp="1"/>
          </p:cNvSpPr>
          <p:nvPr/>
        </p:nvSpPr>
        <p:spPr>
          <a:xfrm xmlns:a="http://schemas.openxmlformats.org/drawingml/2006/main">
            <a:off x="1501760" y="3731056"/>
            <a:ext cx="863539" cy="432048"/>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Phân loại</a:t>
            </a:r>
          </a:p>
        </p:txBody>
      </p:sp>
      <p:sp>
        <p:nvSpPr>
          <p:cNvPr id="53" name="AutoShape 336">
            <a:extLst xmlns:a="http://schemas.openxmlformats.org/drawingml/2006/main">
              <a:ext uri="{FF2B5EF4-FFF2-40B4-BE49-F238E27FC236}">
                <a16:creationId xmlns:a16="http://schemas.microsoft.com/office/drawing/2014/main" id="{A1B290CA-9316-4FF9-89C9-51B61F4FCA37}"/>
              </a:ext>
            </a:extLst>
          </p:cNvPr>
          <p:cNvSpPr>
            <a:spLocks xmlns:a="http://schemas.openxmlformats.org/drawingml/2006/main" noGrp="1"/>
          </p:cNvSpPr>
          <p:nvPr/>
        </p:nvSpPr>
        <p:spPr>
          <a:xfrm xmlns:a="http://schemas.openxmlformats.org/drawingml/2006/main">
            <a:off x="1501759" y="2575735"/>
            <a:ext cx="876655" cy="457200"/>
          </a:xfrm>
          <a:prstGeom xmlns:a="http://schemas.openxmlformats.org/drawingml/2006/main" prst="roundRect">
            <a:avLst>
              <a:gd name="adj" fmla="val 16667"/>
            </a:avLst>
          </a:prstGeom>
          <a:solidFill xmlns:a="http://schemas.openxmlformats.org/drawingml/2006/main">
            <a:schemeClr val="bg1">
              <a:lumMod val="85000"/>
            </a:schemeClr>
          </a:solidFill>
          <a:ln xmlns:a="http://schemas.openxmlformats.org/drawingml/2006/main" w="6350">
            <a:solidFill>
              <a:schemeClr val="bg1">
                <a:lumMod val="75000"/>
              </a:schemeClr>
            </a:solidFill>
          </a:ln>
          <a:effectLst xmlns:a="http://schemas.openxmlformats.org/drawingml/2006/main">
            <a:outerShdw dist="35921" dir="2700000" algn="ctr" rotWithShape="0">
              <a:srgbClr val="808080"/>
            </a:outerShdw>
          </a:effectLst>
        </p:spPr>
        <p:txBody>
          <a:bodyPr xmlns:a="http://schemas.openxmlformats.org/drawingml/2006/main" wrap="none" anchor="ctr"/>
          <a:lstStyle xmlns:a="http://schemas.openxmlformats.org/drawingml/2006/main">
            <a:lvl1pPr>
              <a:spcBef>
                <a:spcPts val="0"/>
              </a:spcBef>
              <a:buChar char="§"/>
              <a:defRPr sz="1400">
                <a:solidFill>
                  <a:schemeClr val="tx1"/>
                </a:solidFill>
                <a:latin typeface="Arial"/>
                <a:ea typeface="Arial"/>
                <a:cs typeface="Arial"/>
              </a:defRPr>
            </a:lvl1pPr>
            <a:lvl2pPr marL="742950" indent="-285750">
              <a:spcBef>
                <a:spcPts val="0"/>
              </a:spcBef>
              <a:buAutoNum type="arabicPeriod"/>
              <a:defRPr sz="1200">
                <a:solidFill>
                  <a:schemeClr val="tx1"/>
                </a:solidFill>
                <a:latin typeface="Arial"/>
                <a:ea typeface="Arial"/>
                <a:cs typeface="Arial"/>
              </a:defRPr>
            </a:lvl2pPr>
            <a:lvl3pPr marL="1143000" indent="-228600">
              <a:spcBef>
                <a:spcPts val="0"/>
              </a:spcBef>
              <a:buChar char="•"/>
              <a:defRPr sz="1200">
                <a:solidFill>
                  <a:schemeClr val="tx1"/>
                </a:solidFill>
                <a:latin typeface="Arial"/>
                <a:ea typeface="Arial"/>
                <a:cs typeface="Arial"/>
              </a:defRPr>
            </a:lvl3pPr>
            <a:lvl4pPr marL="1600200" indent="-228600">
              <a:spcBef>
                <a:spcPts val="0"/>
              </a:spcBef>
              <a:buChar char="–"/>
              <a:defRPr sz="1200">
                <a:solidFill>
                  <a:schemeClr val="tx1"/>
                </a:solidFill>
                <a:latin typeface="Arial"/>
                <a:ea typeface="Arial"/>
                <a:cs typeface="Arial"/>
              </a:defRPr>
            </a:lvl4pPr>
            <a:lvl5pPr marL="2057400" indent="-228600">
              <a:spcBef>
                <a:spcPts val="0"/>
              </a:spcBef>
              <a:buChar char="»"/>
              <a:defRPr sz="1200">
                <a:solidFill>
                  <a:schemeClr val="tx1"/>
                </a:solidFill>
                <a:latin typeface="Arial"/>
                <a:ea typeface="Arial"/>
                <a:cs typeface="Arial"/>
              </a:defRPr>
            </a:lvl5pPr>
            <a:lvl6pPr marL="2514600" indent="-228600">
              <a:spcBef>
                <a:spcPts val="0"/>
              </a:spcBef>
              <a:spcAft>
                <a:spcPts val="0"/>
              </a:spcAft>
              <a:buChar char="»"/>
              <a:defRPr sz="1200">
                <a:solidFill>
                  <a:schemeClr val="tx1"/>
                </a:solidFill>
                <a:latin typeface="Arial"/>
                <a:ea typeface="Arial"/>
                <a:cs typeface="Arial"/>
              </a:defRPr>
            </a:lvl6pPr>
            <a:lvl7pPr marL="2971800" indent="-228600">
              <a:spcBef>
                <a:spcPts val="0"/>
              </a:spcBef>
              <a:spcAft>
                <a:spcPts val="0"/>
              </a:spcAft>
              <a:buChar char="»"/>
              <a:defRPr sz="1200">
                <a:solidFill>
                  <a:schemeClr val="tx1"/>
                </a:solidFill>
                <a:latin typeface="Arial"/>
                <a:ea typeface="Arial"/>
                <a:cs typeface="Arial"/>
              </a:defRPr>
            </a:lvl7pPr>
            <a:lvl8pPr marL="3429000" indent="-228600">
              <a:spcBef>
                <a:spcPts val="0"/>
              </a:spcBef>
              <a:spcAft>
                <a:spcPts val="0"/>
              </a:spcAft>
              <a:buChar char="»"/>
              <a:defRPr sz="1200">
                <a:solidFill>
                  <a:schemeClr val="tx1"/>
                </a:solidFill>
                <a:latin typeface="Arial"/>
                <a:ea typeface="Arial"/>
                <a:cs typeface="Arial"/>
              </a:defRPr>
            </a:lvl8pPr>
            <a:lvl9pPr marL="3886200" indent="-228600">
              <a:spcBef>
                <a:spcPts val="0"/>
              </a:spcBef>
              <a:spcAft>
                <a:spcPts val="0"/>
              </a:spcAft>
              <a:buChar char="»"/>
              <a:defRPr sz="1200">
                <a:solidFill>
                  <a:schemeClr val="tx1"/>
                </a:solidFill>
                <a:latin typeface="Arial"/>
                <a:ea typeface="Arial"/>
                <a:cs typeface="Arial"/>
              </a:defRPr>
            </a:lvl9pPr>
          </a:lstStyle>
          <a:p xmlns:a="http://schemas.openxmlformats.org/drawingml/2006/main">
            <a:pPr algn="ctr">
              <a:buNone/>
            </a:pPr>
            <a:r>
              <a:rPr sz="1100" b="1">
                <a:latin typeface="Times New Roman"/>
                <a:ea typeface="Times New Roman"/>
                <a:cs typeface="Times New Roman"/>
              </a:rPr>
              <a:t>Ổn định</a:t>
            </a:r>
          </a:p>
        </p:txBody>
      </p:sp>
      <p:sp>
        <p:nvSpPr>
          <p:cNvPr id="2" name="Rectangle 1">
            <a:extLst xmlns:a="http://schemas.openxmlformats.org/drawingml/2006/main">
              <a:ext uri="{FF2B5EF4-FFF2-40B4-BE49-F238E27FC236}">
                <a16:creationId xmlns:a16="http://schemas.microsoft.com/office/drawing/2014/main" id="{445E3A8A-F6E8-4BA5-8548-3D99507BA9E6}"/>
              </a:ext>
            </a:extLst>
          </p:cNvPr>
          <p:cNvSpPr>
            <a:spLocks xmlns:a="http://schemas.openxmlformats.org/drawingml/2006/main" noGrp="1"/>
          </p:cNvSpPr>
          <p:nvPr/>
        </p:nvSpPr>
        <p:spPr>
          <a:xfrm xmlns:a="http://schemas.openxmlformats.org/drawingml/2006/main">
            <a:off x="355107" y="550416"/>
            <a:ext cx="1722268" cy="239697"/>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PHẦN 3: KIẾN TRÚC CNN</a:t>
            </a:r>
          </a:p>
        </p:txBody>
      </p:sp>
      <p:sp>
        <p:nvSpPr>
          <p:cNvPr id="7" name="Rectangle 5">
            <a:extLst xmlns:a="http://schemas.openxmlformats.org/drawingml/2006/main">
              <a:ext uri="{FF2B5EF4-FFF2-40B4-BE49-F238E27FC236}">
                <a16:creationId xmlns:a16="http://schemas.microsoft.com/office/drawing/2014/main" id="{7CF60FD3-F338-4BE9-85DB-C98D87E067BF}"/>
              </a:ext>
            </a:extLst>
          </p:cNvPr>
          <p:cNvSpPr>
            <a:spLocks xmlns:a="http://schemas.openxmlformats.org/drawingml/2006/main" noGrp="1"/>
          </p:cNvSpPr>
          <p:nvPr/>
        </p:nvSpPr>
        <p:spPr>
          <a:xfrm xmlns:a="http://schemas.openxmlformats.org/drawingml/2006/main">
            <a:off x="2605315" y="1581857"/>
            <a:ext cx="7239289"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Các khối Conv2D tăng dần 32, 64, 128, 256, 512 filters để học đặc trưng lá.</a:t>
            </a:r>
          </a:p>
        </p:txBody>
      </p:sp>
      <p:sp>
        <p:nvSpPr>
          <p:cNvPr id="12" name="Rectangle 10">
            <a:extLst xmlns:a="http://schemas.openxmlformats.org/drawingml/2006/main">
              <a:ext uri="{FF2B5EF4-FFF2-40B4-BE49-F238E27FC236}">
                <a16:creationId xmlns:a16="http://schemas.microsoft.com/office/drawing/2014/main" id="{BE318972-C96A-4C22-84A6-DFC6169B038E}"/>
              </a:ext>
            </a:extLst>
          </p:cNvPr>
          <p:cNvSpPr>
            <a:spLocks xmlns:a="http://schemas.openxmlformats.org/drawingml/2006/main" noGrp="1"/>
          </p:cNvSpPr>
          <p:nvPr/>
        </p:nvSpPr>
        <p:spPr>
          <a:xfrm xmlns:a="http://schemas.openxmlformats.org/drawingml/2006/main">
            <a:off x="2599703" y="2733198"/>
            <a:ext cx="5256247"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BatchNormalization, Swish, shortcut connection và SE attention hỗ trợ học sâu.</a:t>
            </a:r>
          </a:p>
        </p:txBody>
      </p:sp>
      <p:sp>
        <p:nvSpPr>
          <p:cNvPr id="13" name="Rectangle 11">
            <a:extLst xmlns:a="http://schemas.openxmlformats.org/drawingml/2006/main">
              <a:ext uri="{FF2B5EF4-FFF2-40B4-BE49-F238E27FC236}">
                <a16:creationId xmlns:a16="http://schemas.microsoft.com/office/drawing/2014/main" id="{7D22B5A7-19D1-425A-8788-64BF4DDE3249}"/>
              </a:ext>
            </a:extLst>
          </p:cNvPr>
          <p:cNvSpPr>
            <a:spLocks xmlns:a="http://schemas.openxmlformats.org/drawingml/2006/main" noGrp="1"/>
          </p:cNvSpPr>
          <p:nvPr/>
        </p:nvSpPr>
        <p:spPr>
          <a:xfrm xmlns:a="http://schemas.openxmlformats.org/drawingml/2006/main">
            <a:off x="2599703" y="3836597"/>
            <a:ext cx="5844549"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200" b="0" i="0" u="none" cap="none">
                <a:ln>
                  <a:noFill/>
                </a:ln>
                <a:latin typeface="Arial Unicode MS"/>
                <a:ea typeface="Arial Unicode MS"/>
                <a:cs typeface="Arial Unicode MS"/>
              </a:rPr>
              <a:t>GlobalAveragePooling2D, Dense 512, Dropout và Softmax cho 71 lớp đầu ra.</a:t>
            </a:r>
          </a:p>
        </p:txBody>
      </p:sp>
    </p:spTree>
    <p:extLst>
      <p:ext uri="{BB962C8B-B14F-4D97-AF65-F5344CB8AC3E}">
        <p14:creationId xmlns:p14="http://schemas.microsoft.com/office/powerpoint/2010/main" val="195793440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CƠ CHẾ DỰ ĐOÁN &amp; ĐỘ TIN CẬY</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Quy trình dự đoán:</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Ảnh được chuẩn hóa và đưa vào CNN</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Softmax trả xác suất cho 71 lớp</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Backend tách tên cây, tên bệnh và confidence</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Xử lý độ tin cậy:</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Kết quả thấp hơn 60% được cảnh báo</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Người dùng có thể gửi phản hồi sai</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Dữ liệu phản hồi phục vụ cải thiện mô hình</a:t>
            </a:r>
          </a:p>
        </p:txBody>
      </p:sp>
    </p:spTree>
    <p:extLst>
      <p:ext uri="{BB962C8B-B14F-4D97-AF65-F5344CB8AC3E}">
        <p14:creationId xmlns:p14="http://schemas.microsoft.com/office/powerpoint/2010/main" val="373885543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6439DB71-B88B-13E6-20C9-D445279D6565}"/>
              </a:ext>
            </a:extLst>
          </p:cNvPr>
          <p:cNvSpPr>
            <a:spLocks xmlns:a="http://schemas.openxmlformats.org/drawingml/2006/main" noGrp="1"/>
          </p:cNvSpPr>
          <p:nvPr/>
        </p:nvSpPr>
        <p:spPr>
          <a:xfrm xmlns:a="http://schemas.openxmlformats.org/drawingml/2006/main">
            <a:off x="1474900" y="2363900"/>
            <a:ext cx="5042013" cy="4297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l">
              <a:lnSpc>
                <a:spcPct val="100000"/>
              </a:lnSpc>
              <a:spcBef>
                <a:spcPts val="0"/>
              </a:spcBef>
              <a:spcAft>
                <a:spcPts val="0"/>
              </a:spcAft>
              <a:buNone/>
            </a:pPr>
            <a:r>
              <a:rPr sz="3600" b="1" i="0" u="none" cap="none">
                <a:ln>
                  <a:noFill/>
                </a:ln>
                <a:solidFill>
                  <a:prstClr val="white"/>
                </a:solidFill>
                <a:latin typeface="UTM Neutra"/>
                <a:ea typeface="UTM Neutra"/>
                <a:cs typeface="UTM Neutra"/>
              </a:rPr>
              <a:t>PHẦN 4</a:t>
            </a:r>
          </a:p>
          <a:p xmlns:a="http://schemas.openxmlformats.org/drawingml/2006/main">
            <a:pPr marL="0" indent="0" algn="l">
              <a:lnSpc>
                <a:spcPct val="100000"/>
              </a:lnSpc>
              <a:spcBef>
                <a:spcPts val="0"/>
              </a:spcBef>
              <a:spcAft>
                <a:spcPts val="0"/>
              </a:spcAft>
              <a:buNone/>
            </a:pPr>
            <a:r>
              <a:rPr sz="8000" b="1" i="0" u="none" cap="none">
                <a:ln>
                  <a:noFill/>
                </a:ln>
                <a:solidFill>
                  <a:srgbClr val="FFF106"/>
                </a:solidFill>
                <a:latin typeface="UTM Neutra"/>
                <a:ea typeface="UTM Neutra"/>
                <a:cs typeface="UTM Neutra"/>
              </a:rPr>
              <a:t>Huấn luyện &amp; đánh giá</a:t>
            </a:r>
          </a:p>
        </p:txBody>
      </p:sp>
      <p:sp>
        <p:nvSpPr>
          <p:cNvPr id="2" name="Rectangle 1">
            <a:extLst xmlns:a="http://schemas.openxmlformats.org/drawingml/2006/main">
              <a:ext uri="{FF2B5EF4-FFF2-40B4-BE49-F238E27FC236}">
                <a16:creationId xmlns:a16="http://schemas.microsoft.com/office/drawing/2014/main" id="{9F1140A8-0DEA-4459-9D47-7031037DBACB}"/>
              </a:ext>
            </a:extLst>
          </p:cNvPr>
          <p:cNvSpPr>
            <a:spLocks xmlns:a="http://schemas.openxmlformats.org/drawingml/2006/main" noGrp="1"/>
          </p:cNvSpPr>
          <p:nvPr/>
        </p:nvSpPr>
        <p:spPr>
          <a:xfrm xmlns:a="http://schemas.openxmlformats.org/drawingml/2006/main">
            <a:off x="6465698" y="2147668"/>
            <a:ext cx="51215" cy="3164560"/>
          </a:xfrm>
          <a:prstGeom xmlns:a="http://schemas.openxmlformats.org/drawingml/2006/main" prst="rect">
            <a:avLst/>
          </a:prstGeom>
          <a:solidFill xmlns:a="http://schemas.openxmlformats.org/drawingml/2006/main">
            <a:srgbClr val="FFF106"/>
          </a:solidFill>
          <a:ln xmlns:a="http://schemas.openxmlformats.org/drawingml/2006/main">
            <a:solidFill>
              <a:srgbClr val="085189"/>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p>
        </p:txBody>
      </p:sp>
    </p:spTree>
    <p:extLst>
      <p:ext uri="{BB962C8B-B14F-4D97-AF65-F5344CB8AC3E}">
        <p14:creationId xmlns:p14="http://schemas.microsoft.com/office/powerpoint/2010/main" val="29587304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THIẾT LẬP HUẤN LUYỆN</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Dữ liệu &amp; cấu hình:</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Input: 224x224x3</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Batch size: 64</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Train: 78.956 ảnh, validation: 22.610 ảnh</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Mô hình &amp; tối ưu:</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CNN tùy chỉnh có 5.250.405 tham số</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Adam optimizer, loss phân loại đa lớp</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Theo dõi Accuracy và Loss theo epoch</a:t>
            </a:r>
          </a:p>
        </p:txBody>
      </p:sp>
    </p:spTree>
    <p:extLst>
      <p:ext uri="{BB962C8B-B14F-4D97-AF65-F5344CB8AC3E}">
        <p14:creationId xmlns:p14="http://schemas.microsoft.com/office/powerpoint/2010/main" val="373885543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5" name="Picture 2"/>
          <p:cNvPicPr>
            <a:picLocks xmlns:a="http://schemas.openxmlformats.org/drawingml/2006/main" noChangeAspect="1"/>
          </p:cNvPicPr>
          <p:nvPr/>
        </p:nvPicPr>
        <p:blipFill>
          <a:blip xmlns:r="http://schemas.openxmlformats.org/officeDocument/2006/relationships" xmlns:a="http://schemas.openxmlformats.org/drawingml/2006/main" r:embed="R1d2e0fe6afe840a2"/>
          <a:srcRect xmlns:a="http://schemas.openxmlformats.org/drawingml/2006/main" l="0" t="0" r="0" b="0"/>
          <a:stretch xmlns:a="http://schemas.openxmlformats.org/drawingml/2006/main">
            <a:fillRect l="0" t="0" r="0" b="0"/>
          </a:stretch>
        </p:blipFill>
        <p:spPr>
          <a:xfrm xmlns:a="http://schemas.openxmlformats.org/drawingml/2006/main" flipH="0" flipV="0">
            <a:off x="5271867" y="566056"/>
            <a:ext cx="6052842" cy="4339773"/>
          </a:xfrm>
          <a:prstGeom xmlns:a="http://schemas.openxmlformats.org/drawingml/2006/main" prst="rect">
            <a:avLst/>
          </a:prstGeom>
        </p:spPr>
      </p:pic>
      <p:sp>
        <p:nvSpPr>
          <p:cNvPr id="2" name="Rectangle 3">
            <a:extLst xmlns:a="http://schemas.openxmlformats.org/drawingml/2006/main">
              <a:ext uri="{FF2B5EF4-FFF2-40B4-BE49-F238E27FC236}">
                <a16:creationId xmlns:a16="http://schemas.microsoft.com/office/drawing/2014/main" id="{E24016A1-7589-45C7-AB65-D344AD5516D2}"/>
              </a:ext>
            </a:extLst>
          </p:cNvPr>
          <p:cNvSpPr>
            <a:spLocks xmlns:a="http://schemas.openxmlformats.org/drawingml/2006/main" noGrp="1"/>
          </p:cNvSpPr>
          <p:nvPr/>
        </p:nvSpPr>
        <p:spPr>
          <a:xfrm xmlns:a="http://schemas.openxmlformats.org/drawingml/2006/main">
            <a:off x="275771" y="143394"/>
            <a:ext cx="2947410" cy="2462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600" b="0" i="0" u="none" cap="none">
                <a:ln>
                  <a:noFill/>
                </a:ln>
                <a:latin typeface="Arial Unicode MS"/>
                <a:ea typeface="Arial Unicode MS"/>
                <a:cs typeface="Arial Unicode MS"/>
              </a:rPr>
              <a:t>KẾT QUẢ ACCURACY / LOSS</a:t>
            </a:r>
          </a:p>
        </p:txBody>
      </p:sp>
      <p:sp>
        <p:nvSpPr>
          <p:cNvPr id="3" name="Rectangle 4">
            <a:extLst xmlns:a="http://schemas.openxmlformats.org/drawingml/2006/main">
              <a:ext uri="{FF2B5EF4-FFF2-40B4-BE49-F238E27FC236}">
                <a16:creationId xmlns:a16="http://schemas.microsoft.com/office/drawing/2014/main" id="{E50BE89A-66F4-42E6-AE67-338D1F53826A}"/>
              </a:ext>
            </a:extLst>
          </p:cNvPr>
          <p:cNvSpPr>
            <a:spLocks xmlns:a="http://schemas.openxmlformats.org/drawingml/2006/main" noGrp="1"/>
          </p:cNvSpPr>
          <p:nvPr/>
        </p:nvSpPr>
        <p:spPr>
          <a:xfrm xmlns:a="http://schemas.openxmlformats.org/drawingml/2006/main">
            <a:off x="867292" y="1149434"/>
            <a:ext cx="3420808" cy="28623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2000" b="0" i="0" u="none" cap="none">
                <a:ln>
                  <a:noFill/>
                </a:ln>
                <a:latin typeface="Arial Unicode MS"/>
                <a:ea typeface="Arial Unicode MS"/>
                <a:cs typeface="Arial Unicode MS"/>
              </a:rPr>
              <a:t>Nhận xét:</a:t>
            </a:r>
          </a:p>
          <a:p xmlns:a="http://schemas.openxmlformats.org/drawingml/2006/main">
            <a:pPr marL="0" indent="0" algn="l">
              <a:lnSpc>
                <a:spcPct val="100000"/>
              </a:lnSpc>
              <a:spcBef>
                <a:spcPts val="0"/>
              </a:spcBef>
              <a:spcAft>
                <a:spcPts val="0"/>
              </a:spcAft>
              <a:buNone/>
            </a:pPr>
            <a:r>
              <a:rPr sz="2000" b="0" i="0" u="none" cap="none">
                <a:ln>
                  <a:noFill/>
                </a:ln>
                <a:latin typeface="Arial Unicode MS"/>
                <a:ea typeface="Arial Unicode MS"/>
                <a:cs typeface="Arial Unicode MS"/>
              </a:rPr>
              <a:t>Accuracy tăng dần qua các epoch</a:t>
            </a:r>
          </a:p>
          <a:p xmlns:a="http://schemas.openxmlformats.org/drawingml/2006/main">
            <a:pPr marL="0" indent="0" algn="l">
              <a:lnSpc>
                <a:spcPct val="100000"/>
              </a:lnSpc>
              <a:spcBef>
                <a:spcPts val="0"/>
              </a:spcBef>
              <a:spcAft>
                <a:spcPts val="0"/>
              </a:spcAft>
              <a:buNone/>
            </a:pPr>
            <a:r>
              <a:t>Train Loss giảm rõ theo thời gian</a:t>
            </a:r>
          </a:p>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Validation có dao động do dữ liệu thực tế đa dạng</a:t>
            </a:r>
          </a:p>
          <a:p xmlns:a="http://schemas.openxmlformats.org/drawingml/2006/main">
            <a:pPr algn="l">
              <a:lnSpc>
                <a:spcPct val="100000"/>
              </a:lnSpc>
              <a:spcBef>
                <a:spcPts val="0"/>
              </a:spcBef>
              <a:spcAft>
                <a:spcPts val="0"/>
              </a:spcAft>
              <a:buNone/>
            </a:pPr>
            <a:r>
              <a:rPr sz="1400" b="0" i="0" u="none" cap="none">
                <a:ln>
                  <a:noFill/>
                </a:ln>
                <a:latin typeface="Arial Unicode MS"/>
                <a:ea typeface="Arial Unicode MS"/>
                <a:cs typeface="Arial Unicode MS"/>
              </a:rPr>
              <a:t>Kết quả cho thấy mô hình đã học được đặc trưng chính</a:t>
            </a:r>
          </a:p>
        </p:txBody>
      </p:sp>
    </p:spTree>
    <p:extLst>
      <p:ext uri="{BB962C8B-B14F-4D97-AF65-F5344CB8AC3E}">
        <p14:creationId xmlns:p14="http://schemas.microsoft.com/office/powerpoint/2010/main" val="27352767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CONFUSION MATRIX &amp; NHẬN XÉT</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Nhận xét chính:</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Đường chéo thể hiện các lớp được dự đoán đúng</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Một số lớp cây/bệnh dễ nhầm khi triệu chứng tương tự</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Lớp có ít ảnh hoặc ảnh nhiễu cần bổ sung dữ liệu</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Ý nghĩa đánh giá:</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Không chỉ nhìn accuracy tổng thể</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Cần theo dõi lỗi theo từng loại cây/bệnh</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Phản hồi chuyên gia giúp cải thiện nhãn và dữ liệu</a:t>
            </a:r>
          </a:p>
        </p:txBody>
      </p:sp>
    </p:spTree>
    <p:extLst>
      <p:ext uri="{BB962C8B-B14F-4D97-AF65-F5344CB8AC3E}">
        <p14:creationId xmlns:p14="http://schemas.microsoft.com/office/powerpoint/2010/main" val="373885543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HẠN CHẾ CỦA MÔ HÌNH</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Yếu tố ảnh hưởng:</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Ảnh mờ, thiếu sáng hoặc phông nền phức tạp</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Góc chụp không tập trung vào lá bệnh</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Loại cây/bệnh chưa có trong dữ liệu huấn luyện</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Cách giảm rủi ro:</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Hiển thị độ tin cậy rõ ràng</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Cảnh báo khi confidence thấp</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Lưu phản hồi để chuyên gia thẩm định và cải thiện dữ liệu</a:t>
            </a:r>
          </a:p>
        </p:txBody>
      </p:sp>
    </p:spTree>
    <p:extLst>
      <p:ext uri="{BB962C8B-B14F-4D97-AF65-F5344CB8AC3E}">
        <p14:creationId xmlns:p14="http://schemas.microsoft.com/office/powerpoint/2010/main" val="373885543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6439DB71-B88B-13E6-20C9-D445279D6565}"/>
              </a:ext>
            </a:extLst>
          </p:cNvPr>
          <p:cNvSpPr>
            <a:spLocks xmlns:a="http://schemas.openxmlformats.org/drawingml/2006/main" noGrp="1"/>
          </p:cNvSpPr>
          <p:nvPr/>
        </p:nvSpPr>
        <p:spPr>
          <a:xfrm xmlns:a="http://schemas.openxmlformats.org/drawingml/2006/main">
            <a:off x="1474900" y="2363900"/>
            <a:ext cx="5042013" cy="310854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l">
              <a:lnSpc>
                <a:spcPct val="100000"/>
              </a:lnSpc>
              <a:spcBef>
                <a:spcPts val="0"/>
              </a:spcBef>
              <a:spcAft>
                <a:spcPts val="0"/>
              </a:spcAft>
              <a:buNone/>
            </a:pPr>
            <a:r>
              <a:rPr sz="3600" b="1" i="0" u="none" cap="none">
                <a:ln>
                  <a:noFill/>
                </a:ln>
                <a:solidFill>
                  <a:prstClr val="white"/>
                </a:solidFill>
                <a:latin typeface="UTM Neutra"/>
                <a:ea typeface="UTM Neutra"/>
                <a:cs typeface="UTM Neutra"/>
              </a:rPr>
              <a:t>PHẦN 5</a:t>
            </a:r>
          </a:p>
          <a:p xmlns:a="http://schemas.openxmlformats.org/drawingml/2006/main">
            <a:pPr marL="0" indent="0" algn="l">
              <a:lnSpc>
                <a:spcPct val="100000"/>
              </a:lnSpc>
              <a:spcBef>
                <a:spcPts val="0"/>
              </a:spcBef>
              <a:spcAft>
                <a:spcPts val="0"/>
              </a:spcAft>
              <a:buNone/>
            </a:pPr>
            <a:r>
              <a:rPr sz="8000" b="1">
                <a:solidFill>
                  <a:srgbClr val="FFF106"/>
                </a:solidFill>
                <a:latin typeface="UTM Neutra"/>
                <a:ea typeface="UTM Neutra"/>
                <a:cs typeface="UTM Neutra"/>
              </a:rPr>
              <a:t>Triển khai thực tế</a:t>
            </a:r>
          </a:p>
        </p:txBody>
      </p:sp>
      <p:sp>
        <p:nvSpPr>
          <p:cNvPr id="2" name="Rectangle 1">
            <a:extLst xmlns:a="http://schemas.openxmlformats.org/drawingml/2006/main">
              <a:ext uri="{FF2B5EF4-FFF2-40B4-BE49-F238E27FC236}">
                <a16:creationId xmlns:a16="http://schemas.microsoft.com/office/drawing/2014/main" id="{9F1140A8-0DEA-4459-9D47-7031037DBACB}"/>
              </a:ext>
            </a:extLst>
          </p:cNvPr>
          <p:cNvSpPr>
            <a:spLocks xmlns:a="http://schemas.openxmlformats.org/drawingml/2006/main" noGrp="1"/>
          </p:cNvSpPr>
          <p:nvPr/>
        </p:nvSpPr>
        <p:spPr>
          <a:xfrm xmlns:a="http://schemas.openxmlformats.org/drawingml/2006/main">
            <a:off x="6465698" y="2147668"/>
            <a:ext cx="51215" cy="3164560"/>
          </a:xfrm>
          <a:prstGeom xmlns:a="http://schemas.openxmlformats.org/drawingml/2006/main" prst="rect">
            <a:avLst/>
          </a:prstGeom>
          <a:solidFill xmlns:a="http://schemas.openxmlformats.org/drawingml/2006/main">
            <a:srgbClr val="FFF106"/>
          </a:solidFill>
          <a:ln xmlns:a="http://schemas.openxmlformats.org/drawingml/2006/main">
            <a:solidFill>
              <a:srgbClr val="085189"/>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p>
        </p:txBody>
      </p:sp>
    </p:spTree>
    <p:extLst>
      <p:ext uri="{BB962C8B-B14F-4D97-AF65-F5344CB8AC3E}">
        <p14:creationId xmlns:p14="http://schemas.microsoft.com/office/powerpoint/2010/main" val="301276815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ỨNG DỤNG IOS SWIFTUI</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Các màn hình chính:</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Đăng nhập/đăng ký và trang chủ</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Chụp/chọn ảnh, xem kết quả chẩn đoán</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Lịch sử, cây của tôi, lịch chăm sóc</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Trải nghiệm người dùng:</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Giao diện rõ ràng, phù hợp thao tác nhanh</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Hiển thị độ tin cậy và hướng xử lý</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Tích hợp thời tiết, bản đồ và trợ lý AI</a:t>
            </a:r>
          </a:p>
        </p:txBody>
      </p:sp>
    </p:spTree>
    <p:extLst>
      <p:ext uri="{BB962C8B-B14F-4D97-AF65-F5344CB8AC3E}">
        <p14:creationId xmlns:p14="http://schemas.microsoft.com/office/powerpoint/2010/main" val="373885543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BACKEND FASTAPI + SUPABASE + API NGOÀI</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Backend FastAPI:</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Nhận ảnh, kiểm tra định dạng/dung lượng</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Tiền xử lý và gọi mô hình AI</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Trả JSON cho app iOS</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Dịch vụ tích hợp:</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Supabase Auth/PostgreSQL/Storage</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Gemini API tạo tư vấn chăm sóc</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OpenWeather API và MapKit/Core Location</a:t>
            </a:r>
          </a:p>
        </p:txBody>
      </p:sp>
    </p:spTree>
    <p:extLst>
      <p:ext uri="{BB962C8B-B14F-4D97-AF65-F5344CB8AC3E}">
        <p14:creationId xmlns:p14="http://schemas.microsoft.com/office/powerpoint/2010/main" val="373885543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6" name="Rectangle 1">
            <a:extLst xmlns:a="http://schemas.openxmlformats.org/drawingml/2006/main">
              <a:ext uri="{FF2B5EF4-FFF2-40B4-BE49-F238E27FC236}">
                <a16:creationId xmlns:a16="http://schemas.microsoft.com/office/drawing/2014/main" id="{EC153CFC-EF8E-4BA3-B2D5-401F34CE59A5}"/>
              </a:ext>
            </a:extLst>
          </p:cNvPr>
          <p:cNvSpPr>
            <a:spLocks xmlns:a="http://schemas.openxmlformats.org/drawingml/2006/main" noGrp="1"/>
          </p:cNvSpPr>
          <p:nvPr/>
        </p:nvSpPr>
        <p:spPr>
          <a:xfrm xmlns:a="http://schemas.openxmlformats.org/drawingml/2006/main">
            <a:off x="508000" y="120878"/>
            <a:ext cx="2859694" cy="2154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sz="1400" b="0" i="0" u="none" cap="none">
                <a:ln>
                  <a:noFill/>
                </a:ln>
                <a:latin typeface="Arial Unicode MS"/>
                <a:ea typeface="Arial Unicode MS"/>
                <a:cs typeface="Arial Unicode MS"/>
              </a:rPr>
              <a:t>KIỂM THỬ, KẾT QUẢ &amp; HƯỚNG PHÁT TRIỂN</a:t>
            </a:r>
          </a:p>
        </p:txBody>
      </p:sp>
      <p:sp>
        <p:nvSpPr>
          <p:cNvPr id="7" name="Rectangle 2">
            <a:extLst xmlns:a="http://schemas.openxmlformats.org/drawingml/2006/main">
              <a:ext uri="{FF2B5EF4-FFF2-40B4-BE49-F238E27FC236}">
                <a16:creationId xmlns:a16="http://schemas.microsoft.com/office/drawing/2014/main" id="{B3AE53E9-4E6E-42C8-9A13-A2AD5F0D5493}"/>
              </a:ext>
            </a:extLst>
          </p:cNvPr>
          <p:cNvSpPr>
            <a:spLocks xmlns:a="http://schemas.openxmlformats.org/drawingml/2006/main" noGrp="1"/>
          </p:cNvSpPr>
          <p:nvPr/>
        </p:nvSpPr>
        <p:spPr>
          <a:xfrm xmlns:a="http://schemas.openxmlformats.org/drawingml/2006/main">
            <a:off x="1227167" y="1107796"/>
            <a:ext cx="4868833"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nSpc>
                <a:spcPct val="100000"/>
              </a:lnSpc>
              <a:spcBef>
                <a:spcPts val="0"/>
              </a:spcBef>
              <a:spcAft>
                <a:spcPts val="0"/>
              </a:spcAft>
              <a:buNone/>
            </a:pPr>
            <a:r>
              <a:rPr b="0" i="0" u="none" cap="none">
                <a:ln>
                  <a:noFill/>
                </a:ln>
                <a:latin typeface="Arial Unicode MS"/>
                <a:ea typeface="Arial Unicode MS"/>
                <a:cs typeface="Arial Unicode MS"/>
              </a:rPr>
              <a:t>Kiểm thử &amp; kết quả:</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Synthetics, stress, soak, spike, negative test</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Unit test cho config, DB, predict, rate limit, security</a:t>
            </a:r>
          </a:p>
          <a:p xmlns:a="http://schemas.openxmlformats.org/drawingml/2006/main">
            <a:pPr marL="285750" indent="-285750">
              <a:lnSpc>
                <a:spcPct val="100000"/>
              </a:lnSpc>
              <a:spcBef>
                <a:spcPts val="0"/>
              </a:spcBef>
              <a:spcAft>
                <a:spcPts val="0"/>
              </a:spcAft>
              <a:buChar char="-"/>
            </a:pPr>
            <a:r>
              <a:rPr b="0" i="0" u="none" cap="none">
                <a:ln>
                  <a:noFill/>
                </a:ln>
                <a:latin typeface="Arial Unicode MS"/>
                <a:ea typeface="Arial Unicode MS"/>
                <a:cs typeface="Arial Unicode MS"/>
              </a:rPr>
              <a:t>Hoàn thiện luồng chẩn đoán, lịch sử, tư vấn và chăm sóc cây</a:t>
            </a:r>
          </a:p>
        </p:txBody>
      </p:sp>
      <p:sp>
        <p:nvSpPr>
          <p:cNvPr id="8" name="Rectangle 3">
            <a:extLst xmlns:a="http://schemas.openxmlformats.org/drawingml/2006/main">
              <a:ext uri="{FF2B5EF4-FFF2-40B4-BE49-F238E27FC236}">
                <a16:creationId xmlns:a16="http://schemas.microsoft.com/office/drawing/2014/main" id="{EB446AEC-E3F4-4F98-893F-2682CEEA3A72}"/>
              </a:ext>
            </a:extLst>
          </p:cNvPr>
          <p:cNvSpPr>
            <a:spLocks xmlns:a="http://schemas.openxmlformats.org/drawingml/2006/main" noGrp="1"/>
          </p:cNvSpPr>
          <p:nvPr/>
        </p:nvSpPr>
        <p:spPr>
          <a:xfrm xmlns:a="http://schemas.openxmlformats.org/drawingml/2006/main">
            <a:off x="1227167" y="2958237"/>
            <a:ext cx="4669548" cy="11079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0" tIns="0" rIns="0" bIns="0" anchor="ctr">
            <a:spAutoFit/>
          </a:bodyPr>
          <a:lstStyle xmlns:a="http://schemas.openxmlformats.org/drawingml/2006/main"/>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Hướng phát triển:</a:t>
            </a:r>
          </a:p>
          <a:p xmlns:a="http://schemas.openxmlformats.org/drawingml/2006/main">
            <a:pPr marL="0" indent="0" algn="l">
              <a:lnSpc>
                <a:spcPct val="100000"/>
              </a:lnSpc>
              <a:spcBef>
                <a:spcPts val="0"/>
              </a:spcBef>
              <a:spcAft>
                <a:spcPts val="0"/>
              </a:spcAft>
              <a:buNone/>
            </a:pPr>
            <a:r>
              <a:rPr b="0" i="0" u="none" cap="none">
                <a:ln>
                  <a:noFill/>
                </a:ln>
                <a:latin typeface="Arial Unicode MS"/>
                <a:ea typeface="Arial Unicode MS"/>
                <a:cs typeface="Arial Unicode MS"/>
              </a:rPr>
              <a:t>Mở rộng dữ liệu thực tế và số loại cây/bệnh</a:t>
            </a:r>
          </a:p>
          <a:p xmlns:a="http://schemas.openxmlformats.org/drawingml/2006/main">
            <a:pPr marL="285750" indent="-285750" algn="l">
              <a:lnSpc>
                <a:spcPct val="100000"/>
              </a:lnSpc>
              <a:spcBef>
                <a:spcPts val="0"/>
              </a:spcBef>
              <a:spcAft>
                <a:spcPts val="0"/>
              </a:spcAft>
              <a:buChar char="-"/>
            </a:pPr>
            <a:r>
              <a:rPr b="0" i="0" u="none" cap="none">
                <a:ln>
                  <a:noFill/>
                </a:ln>
                <a:latin typeface="Arial Unicode MS"/>
                <a:ea typeface="Arial Unicode MS"/>
                <a:cs typeface="Arial Unicode MS"/>
              </a:rPr>
              <a:t>Tối ưu tốc độ suy luận và độ chính xác</a:t>
            </a:r>
          </a:p>
          <a:p xmlns:a="http://schemas.openxmlformats.org/drawingml/2006/main">
            <a:pPr algn="l">
              <a:lnSpc>
                <a:spcPct val="100000"/>
              </a:lnSpc>
              <a:spcBef>
                <a:spcPts val="0"/>
              </a:spcBef>
              <a:spcAft>
                <a:spcPts val="0"/>
              </a:spcAft>
              <a:buNone/>
            </a:pPr>
            <a:r>
              <a:rPr b="0" i="0" u="none" cap="none">
                <a:ln>
                  <a:noFill/>
                </a:ln>
                <a:latin typeface="Arial Unicode MS"/>
                <a:ea typeface="Arial Unicode MS"/>
                <a:cs typeface="Arial Unicode MS"/>
              </a:rPr>
              <a:t>Phát hiện vùng tổn thương trực tiếp trên ảnh</a:t>
            </a:r>
          </a:p>
        </p:txBody>
      </p:sp>
    </p:spTree>
    <p:extLst>
      <p:ext uri="{BB962C8B-B14F-4D97-AF65-F5344CB8AC3E}">
        <p14:creationId xmlns:p14="http://schemas.microsoft.com/office/powerpoint/2010/main" val="3738855431"/>
      </p:ext>
    </p:extLst>
  </p:cSld>
</p:sld>
</file>

<file path=ppt/slides/slide30.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6439DB71-B88B-13E6-20C9-D445279D6565}"/>
              </a:ext>
            </a:extLst>
          </p:cNvPr>
          <p:cNvSpPr>
            <a:spLocks xmlns:a="http://schemas.openxmlformats.org/drawingml/2006/main" noGrp="1"/>
          </p:cNvSpPr>
          <p:nvPr/>
        </p:nvSpPr>
        <p:spPr>
          <a:xfrm xmlns:a="http://schemas.openxmlformats.org/drawingml/2006/main">
            <a:off x="1584824" y="2646289"/>
            <a:ext cx="3555347" cy="246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r">
              <a:lnSpc>
                <a:spcPct val="100000"/>
              </a:lnSpc>
              <a:spcBef>
                <a:spcPts val="0"/>
              </a:spcBef>
              <a:spcAft>
                <a:spcPts val="0"/>
              </a:spcAft>
              <a:buNone/>
            </a:pPr>
            <a:r>
              <a:rPr sz="4000" b="1" i="0" u="none" cap="none">
                <a:ln>
                  <a:noFill/>
                </a:ln>
                <a:solidFill>
                  <a:prstClr val="white"/>
                </a:solidFill>
                <a:latin typeface="UTM Neutra"/>
                <a:ea typeface="UTM Neutra"/>
                <a:cs typeface="UTM Neutra"/>
              </a:rPr>
              <a:t>TRÂN TRỌNG</a:t>
            </a:r>
          </a:p>
          <a:p xmlns:a="http://schemas.openxmlformats.org/drawingml/2006/main">
            <a:pPr marL="0" indent="0" algn="r">
              <a:lnSpc>
                <a:spcPct val="100000"/>
              </a:lnSpc>
              <a:spcBef>
                <a:spcPts val="0"/>
              </a:spcBef>
              <a:spcAft>
                <a:spcPts val="0"/>
              </a:spcAft>
              <a:buNone/>
            </a:pPr>
            <a:r>
              <a:rPr sz="4000" b="1">
                <a:solidFill>
                  <a:prstClr val="white"/>
                </a:solidFill>
                <a:latin typeface="UTM Neutra"/>
                <a:ea typeface="UTM Neutra"/>
                <a:cs typeface="UTM Neutra"/>
              </a:rPr>
              <a:t>CẢM ƠN</a:t>
            </a:r>
          </a:p>
          <a:p xmlns:a="http://schemas.openxmlformats.org/drawingml/2006/main">
            <a:pPr marL="0" indent="0" algn="r">
              <a:lnSpc>
                <a:spcPct val="100000"/>
              </a:lnSpc>
              <a:spcBef>
                <a:spcPts val="0"/>
              </a:spcBef>
              <a:spcAft>
                <a:spcPts val="0"/>
              </a:spcAft>
              <a:buNone/>
            </a:pPr>
            <a:r>
              <a:t/>
            </a:r>
          </a:p>
          <a:p xmlns:a="http://schemas.openxmlformats.org/drawingml/2006/main">
            <a:pPr marL="0" indent="0" algn="r">
              <a:lnSpc>
                <a:spcPct val="100000"/>
              </a:lnSpc>
              <a:spcBef>
                <a:spcPts val="0"/>
              </a:spcBef>
              <a:spcAft>
                <a:spcPts val="0"/>
              </a:spcAft>
              <a:buNone/>
            </a:pPr>
            <a:r>
              <a:t>Q&amp;A</a:t>
            </a:r>
          </a:p>
        </p:txBody>
      </p:sp>
      <p:sp>
        <p:nvSpPr>
          <p:cNvPr id="2" name="Rectangle 1">
            <a:extLst xmlns:a="http://schemas.openxmlformats.org/drawingml/2006/main">
              <a:ext uri="{FF2B5EF4-FFF2-40B4-BE49-F238E27FC236}">
                <a16:creationId xmlns:a16="http://schemas.microsoft.com/office/drawing/2014/main" id="{9F1140A8-0DEA-4459-9D47-7031037DBACB}"/>
              </a:ext>
            </a:extLst>
          </p:cNvPr>
          <p:cNvSpPr>
            <a:spLocks xmlns:a="http://schemas.openxmlformats.org/drawingml/2006/main" noGrp="1"/>
          </p:cNvSpPr>
          <p:nvPr/>
        </p:nvSpPr>
        <p:spPr>
          <a:xfrm xmlns:a="http://schemas.openxmlformats.org/drawingml/2006/main">
            <a:off x="5140171" y="2183906"/>
            <a:ext cx="51215" cy="2032987"/>
          </a:xfrm>
          <a:prstGeom xmlns:a="http://schemas.openxmlformats.org/drawingml/2006/main" prst="rect">
            <a:avLst/>
          </a:prstGeom>
          <a:solidFill xmlns:a="http://schemas.openxmlformats.org/drawingml/2006/main">
            <a:srgbClr val="FFF106"/>
          </a:solidFill>
          <a:ln xmlns:a="http://schemas.openxmlformats.org/drawingml/2006/main">
            <a:solidFill>
              <a:srgbClr val="085189"/>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indent="0" algn="ctr">
              <a:lnSpc>
                <a:spcPct val="100000"/>
              </a:lnSpc>
              <a:spcBef>
                <a:spcPts val="0"/>
              </a:spcBef>
              <a:spcAft>
                <a:spcPts val="0"/>
              </a:spcAft>
              <a:buNone/>
            </a:pPr>
          </a:p>
        </p:txBody>
      </p:sp>
    </p:spTree>
    <p:extLst>
      <p:ext uri="{BB962C8B-B14F-4D97-AF65-F5344CB8AC3E}">
        <p14:creationId xmlns:p14="http://schemas.microsoft.com/office/powerpoint/2010/main" val="175196821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2026-06-17T07:23:32.2190000Z</dcterms:created>
  <dcterms:modified xsi:type="dcterms:W3CDTF">2026-06-17T07:23:32.2190000Z</dcterms:modified>
</coreProperties>
</file>